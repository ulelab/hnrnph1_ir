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8" r:id="rId2"/>
  </p:sldIdLst>
  <p:sldSz cx="6858000" cy="12192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19" autoAdjust="0"/>
    <p:restoredTop sz="94660"/>
  </p:normalViewPr>
  <p:slideViewPr>
    <p:cSldViewPr snapToGrid="0">
      <p:cViewPr>
        <p:scale>
          <a:sx n="125" d="100"/>
          <a:sy n="125" d="100"/>
        </p:scale>
        <p:origin x="2010" y="-50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5EF58D-B62B-40BB-83AA-9D07CFC4ED2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57250" y="1995312"/>
            <a:ext cx="5143500" cy="4244622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6AC06D3-F571-4213-A2A4-6A1915120C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57250" y="6403623"/>
            <a:ext cx="5143500" cy="2943577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A10580-AD31-4B8F-8448-55A666AC17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AF61AA-5A98-4049-A93E-477E5505141A}" type="datetimeFigureOut">
              <a:rPr lang="en-US" smtClean="0"/>
              <a:t>9/22/2026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EC99C8-515A-4FEA-9CD2-6D0BF46CF6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72AF1B-1868-4C05-B6C3-9EBF29A50A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65858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E6D384-B2C5-42A4-9774-A931C39BA5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8D736C-5FCC-43BC-B824-A90F2CC5D1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4A3A50-B922-45BE-945D-7ED3EBD83F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AF61AA-5A98-4049-A93E-477E5505141A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241F78-20DE-4D53-BB25-79E5C4E1AB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643084-C669-4FDF-87D4-F22D36BB82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96486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C6C559-800C-489A-9174-7901F92B0D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7916" y="3039535"/>
            <a:ext cx="5915025" cy="5071532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42B5C3-320B-4CFD-B6A7-A28C7E435B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7916" y="8159046"/>
            <a:ext cx="5915025" cy="2666999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FCA372-3F42-4113-A73B-5FDCF93CB5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AF61AA-5A98-4049-A93E-477E5505141A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DA1197-0C78-4878-B086-5D206EA491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1B83D8-FD42-44FF-AA20-944A519CC0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41944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D685AA-B5C7-4E3D-85FA-94F3C73E59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3AFEEA-6F3F-4630-A950-61C05D2FAF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71488" y="3245556"/>
            <a:ext cx="2914650" cy="773571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AC36817-B869-4D19-9EE8-A3166B0E15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71863" y="3245556"/>
            <a:ext cx="2914650" cy="773571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074146-2374-4321-AEBB-3E9B09D779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AF61AA-5A98-4049-A93E-477E5505141A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C42337B-B902-4DC2-BB94-02B8A75492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4AD585-B83C-4ECF-AF42-8DDF6996B7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57528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3A9ADB-3495-481F-BB4E-9C7128B17B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2381" y="649112"/>
            <a:ext cx="5915025" cy="2356556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D6FF4C-26CB-4281-A2F7-6CBE451867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2381" y="2988734"/>
            <a:ext cx="2901255" cy="146473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F2E72A9-F222-45B4-9355-C04C058641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72381" y="4453467"/>
            <a:ext cx="2901255" cy="6550379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A699F6E-77AD-4EBC-BAF9-5A43CDEC41E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3471863" y="2988734"/>
            <a:ext cx="2915543" cy="146473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0F77677-7169-4591-B047-0678815F48E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3471863" y="4453467"/>
            <a:ext cx="2915543" cy="6550379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482A6EB-0285-4FA4-A00C-A7F716084F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AF61AA-5A98-4049-A93E-477E5505141A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6D39526-82B8-402C-8A2B-82EF8F3F3A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55EC9E6-6FF1-4541-9CB1-A2FF9D8521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66494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170F54-6CED-4251-A0A6-32CCD1213F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572C8E6-49D6-46A5-8DC3-B0D8E683C9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AF61AA-5A98-4049-A93E-477E5505141A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B883CBA-77CD-4490-A5F3-BAA8FC254A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A5FF79-61B6-4693-8547-95B1F2F7A1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41848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FBDCB94-13E9-41CB-88F0-D30A1791DC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AF61AA-5A98-4049-A93E-477E5505141A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44795A4-736C-426D-8559-5AD5892756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2A2ACD-17F3-4C16-8E77-86EC92CCD5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01746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7FCB2E-B68A-48F9-8B20-CDED818FB6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2381" y="812800"/>
            <a:ext cx="2211883" cy="28448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081C83-64B5-4BFD-A163-75C2EA7F89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15543" y="1755423"/>
            <a:ext cx="3471863" cy="866422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25D44AD-E361-48A3-936D-DDA0D51445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72381" y="3657600"/>
            <a:ext cx="2211883" cy="677615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9EED06C-E016-489C-8863-EA1BE998BC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AF61AA-5A98-4049-A93E-477E5505141A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9161F0-D253-49A7-9A08-7A0A228146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42C61A-B326-40A7-A286-90D0544BBC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2260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F2DF6F-D00F-4CE4-8701-B006273461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2381" y="812800"/>
            <a:ext cx="2211883" cy="28448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A0FF7AB-F851-4425-8407-996C920E684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2915543" y="1755423"/>
            <a:ext cx="3471863" cy="8664222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ED6CF5-154F-4615-8CDC-E2BFA61FAB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72381" y="3657600"/>
            <a:ext cx="2211883" cy="677615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A5C400-0D13-495F-8C4E-EC3CDF5F22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AF61AA-5A98-4049-A93E-477E5505141A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CB290D7-98AC-45E5-A7D6-73520AFC73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94276C-2BD2-4C4F-AC04-DD3D73768A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02448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5170B0-C1C5-4976-80E8-6B4F90EB36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97593EE-493E-4BCE-8992-24CA63E1E0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80919F-FDDD-42FB-8422-A0665D558D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AF61AA-5A98-4049-A93E-477E5505141A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16D38A-35F8-4667-A1F4-49644471E9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9CC230-78B7-487B-9C95-CB00868F6F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87080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14CB826-D9AA-4689-B8C0-38D999F0D06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4907756" y="649111"/>
            <a:ext cx="1478756" cy="10332156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61F1CDD-16FB-45E0-9887-24374C5676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471487" y="649111"/>
            <a:ext cx="4350544" cy="10332156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846397-BBD2-4426-B1F5-FD6EA3CDC8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AF61AA-5A98-4049-A93E-477E5505141A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AB91E4-73D0-4ACD-8F54-00EE6FB1D6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B28C61-59FE-44D6-A7D6-AAD2922327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79557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247A131F-D5DE-41A5-B4CF-4F345319B40B}"/>
              </a:ext>
            </a:extLst>
          </p:cNvPr>
          <p:cNvSpPr/>
          <p:nvPr/>
        </p:nvSpPr>
        <p:spPr>
          <a:xfrm>
            <a:off x="0" y="0"/>
            <a:ext cx="6856286" cy="12192000"/>
          </a:xfrm>
          <a:prstGeom prst="rect">
            <a:avLst/>
          </a:prstGeom>
          <a:solidFill>
            <a:schemeClr val="bg2"/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>
              <a:solidFill>
                <a:schemeClr val="tx1">
                  <a:lumMod val="65000"/>
                  <a:lumOff val="35000"/>
                </a:schemeClr>
              </a:solidFill>
              <a:latin typeface="AvenirNext LT Pro Medium" panose="020B0504020202020204" pitchFamily="34" charset="0"/>
            </a:endParaRP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3AF4666D-BD98-40A5-A75F-478B982010B2}"/>
              </a:ext>
            </a:extLst>
          </p:cNvPr>
          <p:cNvSpPr/>
          <p:nvPr/>
        </p:nvSpPr>
        <p:spPr>
          <a:xfrm rot="10800000">
            <a:off x="389725" y="-5485"/>
            <a:ext cx="745937" cy="1062405"/>
          </a:xfrm>
          <a:custGeom>
            <a:avLst/>
            <a:gdLst>
              <a:gd name="connsiteX0" fmla="*/ 741051 w 1482102"/>
              <a:gd name="connsiteY0" fmla="*/ 0 h 679363"/>
              <a:gd name="connsiteX1" fmla="*/ 1473822 w 1482102"/>
              <a:gd name="connsiteY1" fmla="*/ 597226 h 679363"/>
              <a:gd name="connsiteX2" fmla="*/ 1482102 w 1482102"/>
              <a:gd name="connsiteY2" fmla="*/ 679363 h 679363"/>
              <a:gd name="connsiteX3" fmla="*/ 0 w 1482102"/>
              <a:gd name="connsiteY3" fmla="*/ 679363 h 679363"/>
              <a:gd name="connsiteX4" fmla="*/ 8280 w 1482102"/>
              <a:gd name="connsiteY4" fmla="*/ 597226 h 679363"/>
              <a:gd name="connsiteX5" fmla="*/ 741051 w 1482102"/>
              <a:gd name="connsiteY5" fmla="*/ 0 h 6793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2102" h="679363">
                <a:moveTo>
                  <a:pt x="741051" y="0"/>
                </a:moveTo>
                <a:cubicBezTo>
                  <a:pt x="1102506" y="0"/>
                  <a:pt x="1404077" y="256390"/>
                  <a:pt x="1473822" y="597226"/>
                </a:cubicBezTo>
                <a:lnTo>
                  <a:pt x="1482102" y="679363"/>
                </a:lnTo>
                <a:lnTo>
                  <a:pt x="0" y="679363"/>
                </a:lnTo>
                <a:lnTo>
                  <a:pt x="8280" y="597226"/>
                </a:lnTo>
                <a:cubicBezTo>
                  <a:pt x="78025" y="256390"/>
                  <a:pt x="379596" y="0"/>
                  <a:pt x="741051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1800" dirty="0">
                <a:solidFill>
                  <a:schemeClr val="tx1">
                    <a:lumMod val="65000"/>
                    <a:lumOff val="35000"/>
                  </a:schemeClr>
                </a:solidFill>
                <a:latin typeface="AvenirNext LT Pro Medium" panose="020B0504020202020204" pitchFamily="34" charset="0"/>
              </a:rPr>
              <a:t> </a:t>
            </a: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68680585-71F9-4721-A998-4974171D2EB4}"/>
              </a:ext>
            </a:extLst>
          </p:cNvPr>
          <p:cNvSpPr/>
          <p:nvPr/>
        </p:nvSpPr>
        <p:spPr>
          <a:xfrm>
            <a:off x="5872082" y="10972801"/>
            <a:ext cx="833682" cy="1207756"/>
          </a:xfrm>
          <a:custGeom>
            <a:avLst/>
            <a:gdLst>
              <a:gd name="connsiteX0" fmla="*/ 741051 w 1482102"/>
              <a:gd name="connsiteY0" fmla="*/ 0 h 679363"/>
              <a:gd name="connsiteX1" fmla="*/ 1473822 w 1482102"/>
              <a:gd name="connsiteY1" fmla="*/ 597226 h 679363"/>
              <a:gd name="connsiteX2" fmla="*/ 1482102 w 1482102"/>
              <a:gd name="connsiteY2" fmla="*/ 679363 h 679363"/>
              <a:gd name="connsiteX3" fmla="*/ 0 w 1482102"/>
              <a:gd name="connsiteY3" fmla="*/ 679363 h 679363"/>
              <a:gd name="connsiteX4" fmla="*/ 8280 w 1482102"/>
              <a:gd name="connsiteY4" fmla="*/ 597226 h 679363"/>
              <a:gd name="connsiteX5" fmla="*/ 741051 w 1482102"/>
              <a:gd name="connsiteY5" fmla="*/ 0 h 6793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2102" h="679363">
                <a:moveTo>
                  <a:pt x="741051" y="0"/>
                </a:moveTo>
                <a:cubicBezTo>
                  <a:pt x="1102506" y="0"/>
                  <a:pt x="1404077" y="256390"/>
                  <a:pt x="1473822" y="597226"/>
                </a:cubicBezTo>
                <a:lnTo>
                  <a:pt x="1482102" y="679363"/>
                </a:lnTo>
                <a:lnTo>
                  <a:pt x="0" y="679363"/>
                </a:lnTo>
                <a:lnTo>
                  <a:pt x="8280" y="597226"/>
                </a:lnTo>
                <a:cubicBezTo>
                  <a:pt x="78025" y="256390"/>
                  <a:pt x="379596" y="0"/>
                  <a:pt x="741051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1800" dirty="0">
                <a:solidFill>
                  <a:schemeClr val="tx1">
                    <a:lumMod val="65000"/>
                    <a:lumOff val="35000"/>
                  </a:schemeClr>
                </a:solidFill>
                <a:latin typeface="AvenirNext LT Pro Medium" panose="020B0504020202020204" pitchFamily="34" charset="0"/>
              </a:rPr>
              <a:t> 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12BC95C2-2EEC-4F59-ABA8-660B0D059CCF}"/>
              </a:ext>
            </a:extLst>
          </p:cNvPr>
          <p:cNvSpPr/>
          <p:nvPr/>
        </p:nvSpPr>
        <p:spPr>
          <a:xfrm>
            <a:off x="4487261" y="9239428"/>
            <a:ext cx="2369025" cy="2952572"/>
          </a:xfrm>
          <a:custGeom>
            <a:avLst/>
            <a:gdLst>
              <a:gd name="connsiteX0" fmla="*/ 4211600 w 4211600"/>
              <a:gd name="connsiteY0" fmla="*/ 0 h 1660822"/>
              <a:gd name="connsiteX1" fmla="*/ 4211600 w 4211600"/>
              <a:gd name="connsiteY1" fmla="*/ 58430 h 1660822"/>
              <a:gd name="connsiteX2" fmla="*/ 4136524 w 4211600"/>
              <a:gd name="connsiteY2" fmla="*/ 208808 h 1660822"/>
              <a:gd name="connsiteX3" fmla="*/ 3973354 w 4211600"/>
              <a:gd name="connsiteY3" fmla="*/ 437313 h 1660822"/>
              <a:gd name="connsiteX4" fmla="*/ 3884746 w 4211600"/>
              <a:gd name="connsiteY4" fmla="*/ 553613 h 1660822"/>
              <a:gd name="connsiteX5" fmla="*/ 3849435 w 4211600"/>
              <a:gd name="connsiteY5" fmla="*/ 603143 h 1660822"/>
              <a:gd name="connsiteX6" fmla="*/ 3661849 w 4211600"/>
              <a:gd name="connsiteY6" fmla="*/ 819075 h 1660822"/>
              <a:gd name="connsiteX7" fmla="*/ 3402589 w 4211600"/>
              <a:gd name="connsiteY7" fmla="*/ 952996 h 1660822"/>
              <a:gd name="connsiteX8" fmla="*/ 3130202 w 4211600"/>
              <a:gd name="connsiteY8" fmla="*/ 1023386 h 1660822"/>
              <a:gd name="connsiteX9" fmla="*/ 2914657 w 4211600"/>
              <a:gd name="connsiteY9" fmla="*/ 1068058 h 1660822"/>
              <a:gd name="connsiteX10" fmla="*/ 2582149 w 4211600"/>
              <a:gd name="connsiteY10" fmla="*/ 1138924 h 1660822"/>
              <a:gd name="connsiteX11" fmla="*/ 2483958 w 4211600"/>
              <a:gd name="connsiteY11" fmla="*/ 1162356 h 1660822"/>
              <a:gd name="connsiteX12" fmla="*/ 2123750 w 4211600"/>
              <a:gd name="connsiteY12" fmla="*/ 1238651 h 1660822"/>
              <a:gd name="connsiteX13" fmla="*/ 1761444 w 4211600"/>
              <a:gd name="connsiteY13" fmla="*/ 1273417 h 1660822"/>
              <a:gd name="connsiteX14" fmla="*/ 1608382 w 4211600"/>
              <a:gd name="connsiteY14" fmla="*/ 1284466 h 1660822"/>
              <a:gd name="connsiteX15" fmla="*/ 999942 w 4211600"/>
              <a:gd name="connsiteY15" fmla="*/ 1354284 h 1660822"/>
              <a:gd name="connsiteX16" fmla="*/ 484705 w 4211600"/>
              <a:gd name="connsiteY16" fmla="*/ 1450487 h 1660822"/>
              <a:gd name="connsiteX17" fmla="*/ 113310 w 4211600"/>
              <a:gd name="connsiteY17" fmla="*/ 1613700 h 1660822"/>
              <a:gd name="connsiteX18" fmla="*/ 39668 w 4211600"/>
              <a:gd name="connsiteY18" fmla="*/ 1660822 h 1660822"/>
              <a:gd name="connsiteX19" fmla="*/ 0 w 4211600"/>
              <a:gd name="connsiteY19" fmla="*/ 1660822 h 1660822"/>
              <a:gd name="connsiteX20" fmla="*/ 96701 w 4211600"/>
              <a:gd name="connsiteY20" fmla="*/ 1598934 h 1660822"/>
              <a:gd name="connsiteX21" fmla="*/ 474335 w 4211600"/>
              <a:gd name="connsiteY21" fmla="*/ 1433056 h 1660822"/>
              <a:gd name="connsiteX22" fmla="*/ 994299 w 4211600"/>
              <a:gd name="connsiteY22" fmla="*/ 1335806 h 1660822"/>
              <a:gd name="connsiteX23" fmla="*/ 1605231 w 4211600"/>
              <a:gd name="connsiteY23" fmla="*/ 1265702 h 1660822"/>
              <a:gd name="connsiteX24" fmla="*/ 1758819 w 4211600"/>
              <a:gd name="connsiteY24" fmla="*/ 1254558 h 1660822"/>
              <a:gd name="connsiteX25" fmla="*/ 2118106 w 4211600"/>
              <a:gd name="connsiteY25" fmla="*/ 1220077 h 1660822"/>
              <a:gd name="connsiteX26" fmla="*/ 2475557 w 4211600"/>
              <a:gd name="connsiteY26" fmla="*/ 1144353 h 1660822"/>
              <a:gd name="connsiteX27" fmla="*/ 2573878 w 4211600"/>
              <a:gd name="connsiteY27" fmla="*/ 1120827 h 1660822"/>
              <a:gd name="connsiteX28" fmla="*/ 2907437 w 4211600"/>
              <a:gd name="connsiteY28" fmla="*/ 1049675 h 1660822"/>
              <a:gd name="connsiteX29" fmla="*/ 3122589 w 4211600"/>
              <a:gd name="connsiteY29" fmla="*/ 1005098 h 1660822"/>
              <a:gd name="connsiteX30" fmla="*/ 3391169 w 4211600"/>
              <a:gd name="connsiteY30" fmla="*/ 935756 h 1660822"/>
              <a:gd name="connsiteX31" fmla="*/ 3642290 w 4211600"/>
              <a:gd name="connsiteY31" fmla="*/ 806216 h 1660822"/>
              <a:gd name="connsiteX32" fmla="*/ 3825937 w 4211600"/>
              <a:gd name="connsiteY32" fmla="*/ 594475 h 1660822"/>
              <a:gd name="connsiteX33" fmla="*/ 3861381 w 4211600"/>
              <a:gd name="connsiteY33" fmla="*/ 544755 h 1660822"/>
              <a:gd name="connsiteX34" fmla="*/ 3950381 w 4211600"/>
              <a:gd name="connsiteY34" fmla="*/ 427978 h 1660822"/>
              <a:gd name="connsiteX35" fmla="*/ 4112370 w 4211600"/>
              <a:gd name="connsiteY35" fmla="*/ 201378 h 1660822"/>
              <a:gd name="connsiteX36" fmla="*/ 4195989 w 4211600"/>
              <a:gd name="connsiteY36" fmla="*/ 33834 h 1660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4211600" h="1660822">
                <a:moveTo>
                  <a:pt x="4211600" y="0"/>
                </a:moveTo>
                <a:lnTo>
                  <a:pt x="4211600" y="58430"/>
                </a:lnTo>
                <a:lnTo>
                  <a:pt x="4136524" y="208808"/>
                </a:lnTo>
                <a:cubicBezTo>
                  <a:pt x="4089791" y="287770"/>
                  <a:pt x="4030588" y="363780"/>
                  <a:pt x="3973354" y="437313"/>
                </a:cubicBezTo>
                <a:cubicBezTo>
                  <a:pt x="3943819" y="475222"/>
                  <a:pt x="3913231" y="514465"/>
                  <a:pt x="3884746" y="553613"/>
                </a:cubicBezTo>
                <a:cubicBezTo>
                  <a:pt x="3872801" y="569996"/>
                  <a:pt x="3861119" y="586569"/>
                  <a:pt x="3849435" y="603143"/>
                </a:cubicBezTo>
                <a:cubicBezTo>
                  <a:pt x="3796665" y="678009"/>
                  <a:pt x="3742187" y="755352"/>
                  <a:pt x="3661849" y="819075"/>
                </a:cubicBezTo>
                <a:cubicBezTo>
                  <a:pt x="3596214" y="871176"/>
                  <a:pt x="3509050" y="916230"/>
                  <a:pt x="3402589" y="952996"/>
                </a:cubicBezTo>
                <a:cubicBezTo>
                  <a:pt x="3312406" y="984048"/>
                  <a:pt x="3215660" y="1005003"/>
                  <a:pt x="3130202" y="1023386"/>
                </a:cubicBezTo>
                <a:cubicBezTo>
                  <a:pt x="3058529" y="1038816"/>
                  <a:pt x="2985412" y="1053675"/>
                  <a:pt x="2914657" y="1068058"/>
                </a:cubicBezTo>
                <a:cubicBezTo>
                  <a:pt x="2805176" y="1090251"/>
                  <a:pt x="2692021" y="1113207"/>
                  <a:pt x="2582149" y="1138924"/>
                </a:cubicBezTo>
                <a:cubicBezTo>
                  <a:pt x="2549330" y="1146639"/>
                  <a:pt x="2516644" y="1154450"/>
                  <a:pt x="2483958" y="1162356"/>
                </a:cubicBezTo>
                <a:cubicBezTo>
                  <a:pt x="2367257" y="1190550"/>
                  <a:pt x="2246621" y="1219601"/>
                  <a:pt x="2123750" y="1238651"/>
                </a:cubicBezTo>
                <a:cubicBezTo>
                  <a:pt x="2004294" y="1257129"/>
                  <a:pt x="1880769" y="1265416"/>
                  <a:pt x="1761444" y="1273417"/>
                </a:cubicBezTo>
                <a:cubicBezTo>
                  <a:pt x="1711167" y="1276751"/>
                  <a:pt x="1659184" y="1280275"/>
                  <a:pt x="1608382" y="1284466"/>
                </a:cubicBezTo>
                <a:cubicBezTo>
                  <a:pt x="1408589" y="1300944"/>
                  <a:pt x="1214570" y="1325805"/>
                  <a:pt x="999942" y="1354284"/>
                </a:cubicBezTo>
                <a:cubicBezTo>
                  <a:pt x="826403" y="1377240"/>
                  <a:pt x="647744" y="1400957"/>
                  <a:pt x="484705" y="1450487"/>
                </a:cubicBezTo>
                <a:cubicBezTo>
                  <a:pt x="355831" y="1489635"/>
                  <a:pt x="231387" y="1544374"/>
                  <a:pt x="113310" y="1613700"/>
                </a:cubicBezTo>
                <a:lnTo>
                  <a:pt x="39668" y="1660822"/>
                </a:lnTo>
                <a:lnTo>
                  <a:pt x="0" y="1660822"/>
                </a:lnTo>
                <a:lnTo>
                  <a:pt x="96701" y="1598934"/>
                </a:lnTo>
                <a:cubicBezTo>
                  <a:pt x="216635" y="1528533"/>
                  <a:pt x="343196" y="1472919"/>
                  <a:pt x="474335" y="1433056"/>
                </a:cubicBezTo>
                <a:cubicBezTo>
                  <a:pt x="639999" y="1382669"/>
                  <a:pt x="820102" y="1358856"/>
                  <a:pt x="994299" y="1335806"/>
                </a:cubicBezTo>
                <a:cubicBezTo>
                  <a:pt x="1210239" y="1307231"/>
                  <a:pt x="1404650" y="1282275"/>
                  <a:pt x="1605231" y="1265702"/>
                </a:cubicBezTo>
                <a:cubicBezTo>
                  <a:pt x="1656428" y="1261511"/>
                  <a:pt x="1708411" y="1257987"/>
                  <a:pt x="1758819" y="1254558"/>
                </a:cubicBezTo>
                <a:cubicBezTo>
                  <a:pt x="1877487" y="1246557"/>
                  <a:pt x="2000094" y="1238365"/>
                  <a:pt x="2118106" y="1220077"/>
                </a:cubicBezTo>
                <a:cubicBezTo>
                  <a:pt x="2239531" y="1201313"/>
                  <a:pt x="2359513" y="1172357"/>
                  <a:pt x="2475557" y="1144353"/>
                </a:cubicBezTo>
                <a:cubicBezTo>
                  <a:pt x="2508243" y="1136448"/>
                  <a:pt x="2541060" y="1128542"/>
                  <a:pt x="2573878" y="1120827"/>
                </a:cubicBezTo>
                <a:cubicBezTo>
                  <a:pt x="2684276" y="1094919"/>
                  <a:pt x="2797694" y="1071963"/>
                  <a:pt x="2907437" y="1049675"/>
                </a:cubicBezTo>
                <a:cubicBezTo>
                  <a:pt x="2978061" y="1035387"/>
                  <a:pt x="3051178" y="1020528"/>
                  <a:pt x="3122589" y="1005098"/>
                </a:cubicBezTo>
                <a:cubicBezTo>
                  <a:pt x="3206997" y="986810"/>
                  <a:pt x="3302823" y="966141"/>
                  <a:pt x="3391169" y="935756"/>
                </a:cubicBezTo>
                <a:cubicBezTo>
                  <a:pt x="3494479" y="900132"/>
                  <a:pt x="3578886" y="856508"/>
                  <a:pt x="3642290" y="806216"/>
                </a:cubicBezTo>
                <a:cubicBezTo>
                  <a:pt x="3720133" y="744303"/>
                  <a:pt x="3773953" y="668103"/>
                  <a:pt x="3825937" y="594475"/>
                </a:cubicBezTo>
                <a:cubicBezTo>
                  <a:pt x="3837621" y="577902"/>
                  <a:pt x="3849435" y="561233"/>
                  <a:pt x="3861381" y="544755"/>
                </a:cubicBezTo>
                <a:cubicBezTo>
                  <a:pt x="3889997" y="505416"/>
                  <a:pt x="3920715" y="465983"/>
                  <a:pt x="3950381" y="427978"/>
                </a:cubicBezTo>
                <a:cubicBezTo>
                  <a:pt x="4007353" y="354921"/>
                  <a:pt x="4066163" y="279388"/>
                  <a:pt x="4112370" y="201378"/>
                </a:cubicBezTo>
                <a:cubicBezTo>
                  <a:pt x="4144662" y="146800"/>
                  <a:pt x="4170785" y="89364"/>
                  <a:pt x="4195989" y="3383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1800"/>
          </a:p>
        </p:txBody>
      </p:sp>
      <p:grpSp>
        <p:nvGrpSpPr>
          <p:cNvPr id="11" name="Graphic 141">
            <a:extLst>
              <a:ext uri="{FF2B5EF4-FFF2-40B4-BE49-F238E27FC236}">
                <a16:creationId xmlns:a16="http://schemas.microsoft.com/office/drawing/2014/main" id="{03E9870D-4BBA-43AF-8D44-BBADF020CFF6}"/>
              </a:ext>
            </a:extLst>
          </p:cNvPr>
          <p:cNvGrpSpPr/>
          <p:nvPr/>
        </p:nvGrpSpPr>
        <p:grpSpPr>
          <a:xfrm>
            <a:off x="6103" y="26983"/>
            <a:ext cx="1236910" cy="5922229"/>
            <a:chOff x="4473129" y="923925"/>
            <a:chExt cx="3308947" cy="5012817"/>
          </a:xfrm>
          <a:noFill/>
        </p:grpSpPr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34BC5055-C77D-43CD-BB1D-A77B6779CDAD}"/>
                </a:ext>
              </a:extLst>
            </p:cNvPr>
            <p:cNvSpPr/>
            <p:nvPr/>
          </p:nvSpPr>
          <p:spPr>
            <a:xfrm>
              <a:off x="4485988" y="924020"/>
              <a:ext cx="3296088" cy="5012722"/>
            </a:xfrm>
            <a:custGeom>
              <a:avLst/>
              <a:gdLst>
                <a:gd name="connsiteX0" fmla="*/ 0 w 3296088"/>
                <a:gd name="connsiteY0" fmla="*/ 5012722 h 5012722"/>
                <a:gd name="connsiteX1" fmla="*/ 244031 w 3296088"/>
                <a:gd name="connsiteY1" fmla="*/ 4820222 h 5012722"/>
                <a:gd name="connsiteX2" fmla="*/ 729234 w 3296088"/>
                <a:gd name="connsiteY2" fmla="*/ 4360641 h 5012722"/>
                <a:gd name="connsiteX3" fmla="*/ 881444 w 3296088"/>
                <a:gd name="connsiteY3" fmla="*/ 4173950 h 5012722"/>
                <a:gd name="connsiteX4" fmla="*/ 1151287 w 3296088"/>
                <a:gd name="connsiteY4" fmla="*/ 3972877 h 5012722"/>
                <a:gd name="connsiteX5" fmla="*/ 1498664 w 3296088"/>
                <a:gd name="connsiteY5" fmla="*/ 3786188 h 5012722"/>
                <a:gd name="connsiteX6" fmla="*/ 1716881 w 3296088"/>
                <a:gd name="connsiteY6" fmla="*/ 3674174 h 5012722"/>
                <a:gd name="connsiteX7" fmla="*/ 1913573 w 3296088"/>
                <a:gd name="connsiteY7" fmla="*/ 3477387 h 5012722"/>
                <a:gd name="connsiteX8" fmla="*/ 2167700 w 3296088"/>
                <a:gd name="connsiteY8" fmla="*/ 3042190 h 5012722"/>
                <a:gd name="connsiteX9" fmla="*/ 2273903 w 3296088"/>
                <a:gd name="connsiteY9" fmla="*/ 2775014 h 5012722"/>
                <a:gd name="connsiteX10" fmla="*/ 2463356 w 3296088"/>
                <a:gd name="connsiteY10" fmla="*/ 2335530 h 5012722"/>
                <a:gd name="connsiteX11" fmla="*/ 2741866 w 3296088"/>
                <a:gd name="connsiteY11" fmla="*/ 1982248 h 5012722"/>
                <a:gd name="connsiteX12" fmla="*/ 2985897 w 3296088"/>
                <a:gd name="connsiteY12" fmla="*/ 1634681 h 5012722"/>
                <a:gd name="connsiteX13" fmla="*/ 3212687 w 3296088"/>
                <a:gd name="connsiteY13" fmla="*/ 1226820 h 5012722"/>
                <a:gd name="connsiteX14" fmla="*/ 3281553 w 3296088"/>
                <a:gd name="connsiteY14" fmla="*/ 959644 h 5012722"/>
                <a:gd name="connsiteX15" fmla="*/ 3295936 w 3296088"/>
                <a:gd name="connsiteY15" fmla="*/ 701135 h 5012722"/>
                <a:gd name="connsiteX16" fmla="*/ 3267266 w 3296088"/>
                <a:gd name="connsiteY16" fmla="*/ 436817 h 5012722"/>
                <a:gd name="connsiteX17" fmla="*/ 3105341 w 3296088"/>
                <a:gd name="connsiteY17" fmla="*/ 0 h 50127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6088" h="5012722">
                  <a:moveTo>
                    <a:pt x="0" y="5012722"/>
                  </a:moveTo>
                  <a:cubicBezTo>
                    <a:pt x="81820" y="4949095"/>
                    <a:pt x="163544" y="4885468"/>
                    <a:pt x="244031" y="4820222"/>
                  </a:cubicBezTo>
                  <a:cubicBezTo>
                    <a:pt x="417671" y="4679633"/>
                    <a:pt x="589883" y="4535139"/>
                    <a:pt x="729234" y="4360641"/>
                  </a:cubicBezTo>
                  <a:cubicBezTo>
                    <a:pt x="779431" y="4297776"/>
                    <a:pt x="825818" y="4231958"/>
                    <a:pt x="881444" y="4173950"/>
                  </a:cubicBezTo>
                  <a:cubicBezTo>
                    <a:pt x="959358" y="4092607"/>
                    <a:pt x="1054799" y="4031075"/>
                    <a:pt x="1151287" y="3972877"/>
                  </a:cubicBezTo>
                  <a:cubicBezTo>
                    <a:pt x="1263968" y="3904964"/>
                    <a:pt x="1379315" y="3841337"/>
                    <a:pt x="1498664" y="3786188"/>
                  </a:cubicBezTo>
                  <a:cubicBezTo>
                    <a:pt x="1573149" y="3751802"/>
                    <a:pt x="1649159" y="3720179"/>
                    <a:pt x="1716881" y="3674174"/>
                  </a:cubicBezTo>
                  <a:cubicBezTo>
                    <a:pt x="1794034" y="3621691"/>
                    <a:pt x="1856708" y="3551492"/>
                    <a:pt x="1913573" y="3477387"/>
                  </a:cubicBezTo>
                  <a:cubicBezTo>
                    <a:pt x="2016157" y="3343751"/>
                    <a:pt x="2099024" y="3196114"/>
                    <a:pt x="2167700" y="3042190"/>
                  </a:cubicBezTo>
                  <a:cubicBezTo>
                    <a:pt x="2206752" y="2954655"/>
                    <a:pt x="2241233" y="2865215"/>
                    <a:pt x="2273903" y="2775014"/>
                  </a:cubicBezTo>
                  <a:cubicBezTo>
                    <a:pt x="2328482" y="2624423"/>
                    <a:pt x="2379440" y="2471642"/>
                    <a:pt x="2463356" y="2335530"/>
                  </a:cubicBezTo>
                  <a:cubicBezTo>
                    <a:pt x="2542127" y="2207705"/>
                    <a:pt x="2647855" y="2099501"/>
                    <a:pt x="2741866" y="1982248"/>
                  </a:cubicBezTo>
                  <a:cubicBezTo>
                    <a:pt x="2830449" y="1871758"/>
                    <a:pt x="2908554" y="1753362"/>
                    <a:pt x="2985897" y="1634681"/>
                  </a:cubicBezTo>
                  <a:cubicBezTo>
                    <a:pt x="3071146" y="1503902"/>
                    <a:pt x="3156395" y="1372172"/>
                    <a:pt x="3212687" y="1226820"/>
                  </a:cubicBezTo>
                  <a:cubicBezTo>
                    <a:pt x="3246025" y="1140809"/>
                    <a:pt x="3268790" y="1051084"/>
                    <a:pt x="3281553" y="959644"/>
                  </a:cubicBezTo>
                  <a:cubicBezTo>
                    <a:pt x="3293555" y="874014"/>
                    <a:pt x="3296888" y="787527"/>
                    <a:pt x="3295936" y="701135"/>
                  </a:cubicBezTo>
                  <a:cubicBezTo>
                    <a:pt x="3294888" y="612172"/>
                    <a:pt x="3289268" y="523018"/>
                    <a:pt x="3267266" y="436817"/>
                  </a:cubicBezTo>
                  <a:cubicBezTo>
                    <a:pt x="3227832" y="282416"/>
                    <a:pt x="3105341" y="0"/>
                    <a:pt x="3105341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 sz="1800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DB12D0B8-9385-489A-85AE-3D14AD0BA2FC}"/>
                </a:ext>
              </a:extLst>
            </p:cNvPr>
            <p:cNvSpPr/>
            <p:nvPr/>
          </p:nvSpPr>
          <p:spPr>
            <a:xfrm>
              <a:off x="4473129" y="923925"/>
              <a:ext cx="2977477" cy="4627149"/>
            </a:xfrm>
            <a:custGeom>
              <a:avLst/>
              <a:gdLst>
                <a:gd name="connsiteX0" fmla="*/ 0 w 2977477"/>
                <a:gd name="connsiteY0" fmla="*/ 4627150 h 4627149"/>
                <a:gd name="connsiteX1" fmla="*/ 275082 w 2977477"/>
                <a:gd name="connsiteY1" fmla="*/ 4341590 h 4627149"/>
                <a:gd name="connsiteX2" fmla="*/ 502825 w 2977477"/>
                <a:gd name="connsiteY2" fmla="*/ 4054126 h 4627149"/>
                <a:gd name="connsiteX3" fmla="*/ 666179 w 2977477"/>
                <a:gd name="connsiteY3" fmla="*/ 3890677 h 4627149"/>
                <a:gd name="connsiteX4" fmla="*/ 864203 w 2977477"/>
                <a:gd name="connsiteY4" fmla="*/ 3675983 h 4627149"/>
                <a:gd name="connsiteX5" fmla="*/ 982599 w 2977477"/>
                <a:gd name="connsiteY5" fmla="*/ 3557492 h 4627149"/>
                <a:gd name="connsiteX6" fmla="*/ 1188244 w 2977477"/>
                <a:gd name="connsiteY6" fmla="*/ 3329654 h 4627149"/>
                <a:gd name="connsiteX7" fmla="*/ 1344740 w 2977477"/>
                <a:gd name="connsiteY7" fmla="*/ 3146774 h 4627149"/>
                <a:gd name="connsiteX8" fmla="*/ 1470755 w 2977477"/>
                <a:gd name="connsiteY8" fmla="*/ 2984659 h 4627149"/>
                <a:gd name="connsiteX9" fmla="*/ 1657636 w 2977477"/>
                <a:gd name="connsiteY9" fmla="*/ 2670239 h 4627149"/>
                <a:gd name="connsiteX10" fmla="*/ 1762887 w 2977477"/>
                <a:gd name="connsiteY10" fmla="*/ 2473547 h 4627149"/>
                <a:gd name="connsiteX11" fmla="*/ 1866710 w 2977477"/>
                <a:gd name="connsiteY11" fmla="*/ 2290667 h 4627149"/>
                <a:gd name="connsiteX12" fmla="*/ 2106263 w 2977477"/>
                <a:gd name="connsiteY12" fmla="*/ 2030254 h 4627149"/>
                <a:gd name="connsiteX13" fmla="*/ 2277237 w 2977477"/>
                <a:gd name="connsiteY13" fmla="*/ 1859185 h 4627149"/>
                <a:gd name="connsiteX14" fmla="*/ 2499455 w 2977477"/>
                <a:gd name="connsiteY14" fmla="*/ 1656207 h 4627149"/>
                <a:gd name="connsiteX15" fmla="*/ 2707100 w 2977477"/>
                <a:gd name="connsiteY15" fmla="*/ 1390269 h 4627149"/>
                <a:gd name="connsiteX16" fmla="*/ 2812352 w 2977477"/>
                <a:gd name="connsiteY16" fmla="*/ 1230916 h 4627149"/>
                <a:gd name="connsiteX17" fmla="*/ 2898172 w 2977477"/>
                <a:gd name="connsiteY17" fmla="*/ 1036987 h 4627149"/>
                <a:gd name="connsiteX18" fmla="*/ 2963228 w 2977477"/>
                <a:gd name="connsiteY18" fmla="*/ 850011 h 4627149"/>
                <a:gd name="connsiteX19" fmla="*/ 2977325 w 2977477"/>
                <a:gd name="connsiteY19" fmla="*/ 745427 h 4627149"/>
                <a:gd name="connsiteX20" fmla="*/ 2929509 w 2977477"/>
                <a:gd name="connsiteY20" fmla="*/ 480155 h 4627149"/>
                <a:gd name="connsiteX21" fmla="*/ 2563082 w 2977477"/>
                <a:gd name="connsiteY21" fmla="*/ 0 h 46271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977477" h="4627149">
                  <a:moveTo>
                    <a:pt x="0" y="4627150"/>
                  </a:moveTo>
                  <a:cubicBezTo>
                    <a:pt x="79820" y="4552283"/>
                    <a:pt x="203835" y="4424648"/>
                    <a:pt x="275082" y="4341590"/>
                  </a:cubicBezTo>
                  <a:cubicBezTo>
                    <a:pt x="354711" y="4248722"/>
                    <a:pt x="421005" y="4145090"/>
                    <a:pt x="502825" y="4054126"/>
                  </a:cubicBezTo>
                  <a:cubicBezTo>
                    <a:pt x="554355" y="3996881"/>
                    <a:pt x="612362" y="3945827"/>
                    <a:pt x="666179" y="3890677"/>
                  </a:cubicBezTo>
                  <a:cubicBezTo>
                    <a:pt x="734187" y="3821049"/>
                    <a:pt x="796671" y="3746183"/>
                    <a:pt x="864203" y="3675983"/>
                  </a:cubicBezTo>
                  <a:cubicBezTo>
                    <a:pt x="902875" y="3635788"/>
                    <a:pt x="943642" y="3597593"/>
                    <a:pt x="982599" y="3557492"/>
                  </a:cubicBezTo>
                  <a:cubicBezTo>
                    <a:pt x="1053941" y="3484150"/>
                    <a:pt x="1121378" y="3407093"/>
                    <a:pt x="1188244" y="3329654"/>
                  </a:cubicBezTo>
                  <a:cubicBezTo>
                    <a:pt x="1240631" y="3268885"/>
                    <a:pt x="1293495" y="3208496"/>
                    <a:pt x="1344740" y="3146774"/>
                  </a:cubicBezTo>
                  <a:cubicBezTo>
                    <a:pt x="1388459" y="3094101"/>
                    <a:pt x="1431512" y="3040761"/>
                    <a:pt x="1470755" y="2984659"/>
                  </a:cubicBezTo>
                  <a:cubicBezTo>
                    <a:pt x="1540764" y="2884646"/>
                    <a:pt x="1598771" y="2777109"/>
                    <a:pt x="1657636" y="2670239"/>
                  </a:cubicBezTo>
                  <a:cubicBezTo>
                    <a:pt x="1693545" y="2605088"/>
                    <a:pt x="1728502" y="2539460"/>
                    <a:pt x="1762887" y="2473547"/>
                  </a:cubicBezTo>
                  <a:cubicBezTo>
                    <a:pt x="1795367" y="2411349"/>
                    <a:pt x="1826419" y="2348103"/>
                    <a:pt x="1866710" y="2290667"/>
                  </a:cubicBezTo>
                  <a:cubicBezTo>
                    <a:pt x="1934623" y="2193893"/>
                    <a:pt x="2022729" y="2114169"/>
                    <a:pt x="2106263" y="2030254"/>
                  </a:cubicBezTo>
                  <a:cubicBezTo>
                    <a:pt x="2163128" y="1973104"/>
                    <a:pt x="2218182" y="1914049"/>
                    <a:pt x="2277237" y="1859185"/>
                  </a:cubicBezTo>
                  <a:cubicBezTo>
                    <a:pt x="2350770" y="1790891"/>
                    <a:pt x="2430304" y="1728978"/>
                    <a:pt x="2499455" y="1656207"/>
                  </a:cubicBezTo>
                  <a:cubicBezTo>
                    <a:pt x="2576989" y="1574578"/>
                    <a:pt x="2641568" y="1481900"/>
                    <a:pt x="2707100" y="1390269"/>
                  </a:cubicBezTo>
                  <a:cubicBezTo>
                    <a:pt x="2744153" y="1338453"/>
                    <a:pt x="2781586" y="1286732"/>
                    <a:pt x="2812352" y="1230916"/>
                  </a:cubicBezTo>
                  <a:cubicBezTo>
                    <a:pt x="2846546" y="1168908"/>
                    <a:pt x="2872550" y="1102900"/>
                    <a:pt x="2898172" y="1036987"/>
                  </a:cubicBezTo>
                  <a:cubicBezTo>
                    <a:pt x="2922175" y="975455"/>
                    <a:pt x="2948273" y="914305"/>
                    <a:pt x="2963228" y="850011"/>
                  </a:cubicBezTo>
                  <a:cubicBezTo>
                    <a:pt x="2971229" y="815626"/>
                    <a:pt x="2976563" y="780764"/>
                    <a:pt x="2977325" y="745427"/>
                  </a:cubicBezTo>
                  <a:cubicBezTo>
                    <a:pt x="2979230" y="654844"/>
                    <a:pt x="2963323" y="564261"/>
                    <a:pt x="2929509" y="480155"/>
                  </a:cubicBezTo>
                  <a:cubicBezTo>
                    <a:pt x="2851309" y="285655"/>
                    <a:pt x="2563082" y="0"/>
                    <a:pt x="2563082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 sz="1800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D158A14A-147E-4130-A5E2-38FD84B181AF}"/>
                </a:ext>
              </a:extLst>
            </p:cNvPr>
            <p:cNvSpPr/>
            <p:nvPr/>
          </p:nvSpPr>
          <p:spPr>
            <a:xfrm>
              <a:off x="4494561" y="923925"/>
              <a:ext cx="2356712" cy="4118991"/>
            </a:xfrm>
            <a:custGeom>
              <a:avLst/>
              <a:gdLst>
                <a:gd name="connsiteX0" fmla="*/ 1707071 w 2356712"/>
                <a:gd name="connsiteY0" fmla="*/ 0 h 4118991"/>
                <a:gd name="connsiteX1" fmla="*/ 1824514 w 2356712"/>
                <a:gd name="connsiteY1" fmla="*/ 244697 h 4118991"/>
                <a:gd name="connsiteX2" fmla="*/ 1908715 w 2356712"/>
                <a:gd name="connsiteY2" fmla="*/ 328994 h 4118991"/>
                <a:gd name="connsiteX3" fmla="*/ 2226469 w 2356712"/>
                <a:gd name="connsiteY3" fmla="*/ 603695 h 4118991"/>
                <a:gd name="connsiteX4" fmla="*/ 2355628 w 2356712"/>
                <a:gd name="connsiteY4" fmla="*/ 900494 h 4118991"/>
                <a:gd name="connsiteX5" fmla="*/ 2281428 w 2356712"/>
                <a:gd name="connsiteY5" fmla="*/ 1206913 h 4118991"/>
                <a:gd name="connsiteX6" fmla="*/ 2092452 w 2356712"/>
                <a:gd name="connsiteY6" fmla="*/ 1460659 h 4118991"/>
                <a:gd name="connsiteX7" fmla="*/ 1834039 w 2356712"/>
                <a:gd name="connsiteY7" fmla="*/ 1625822 h 4118991"/>
                <a:gd name="connsiteX8" fmla="*/ 1558862 w 2356712"/>
                <a:gd name="connsiteY8" fmla="*/ 1743075 h 4118991"/>
                <a:gd name="connsiteX9" fmla="*/ 1386554 w 2356712"/>
                <a:gd name="connsiteY9" fmla="*/ 1869948 h 4118991"/>
                <a:gd name="connsiteX10" fmla="*/ 1271683 w 2356712"/>
                <a:gd name="connsiteY10" fmla="*/ 2073402 h 4118991"/>
                <a:gd name="connsiteX11" fmla="*/ 1178338 w 2356712"/>
                <a:gd name="connsiteY11" fmla="*/ 2355914 h 4118991"/>
                <a:gd name="connsiteX12" fmla="*/ 1113758 w 2356712"/>
                <a:gd name="connsiteY12" fmla="*/ 2578513 h 4118991"/>
                <a:gd name="connsiteX13" fmla="*/ 1034796 w 2356712"/>
                <a:gd name="connsiteY13" fmla="*/ 2834640 h 4118991"/>
                <a:gd name="connsiteX14" fmla="*/ 905637 w 2356712"/>
                <a:gd name="connsiteY14" fmla="*/ 3081242 h 4118991"/>
                <a:gd name="connsiteX15" fmla="*/ 793147 w 2356712"/>
                <a:gd name="connsiteY15" fmla="*/ 3258407 h 4118991"/>
                <a:gd name="connsiteX16" fmla="*/ 546735 w 2356712"/>
                <a:gd name="connsiteY16" fmla="*/ 3571970 h 4118991"/>
                <a:gd name="connsiteX17" fmla="*/ 346996 w 2356712"/>
                <a:gd name="connsiteY17" fmla="*/ 3771900 h 4118991"/>
                <a:gd name="connsiteX18" fmla="*/ 174689 w 2356712"/>
                <a:gd name="connsiteY18" fmla="*/ 3944207 h 4118991"/>
                <a:gd name="connsiteX19" fmla="*/ 0 w 2356712"/>
                <a:gd name="connsiteY19" fmla="*/ 4118991 h 41189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2356712" h="4118991">
                  <a:moveTo>
                    <a:pt x="1707071" y="0"/>
                  </a:moveTo>
                  <a:cubicBezTo>
                    <a:pt x="1715357" y="22098"/>
                    <a:pt x="1812608" y="224409"/>
                    <a:pt x="1824514" y="244697"/>
                  </a:cubicBezTo>
                  <a:cubicBezTo>
                    <a:pt x="1844802" y="279273"/>
                    <a:pt x="1876996" y="304324"/>
                    <a:pt x="1908715" y="328994"/>
                  </a:cubicBezTo>
                  <a:cubicBezTo>
                    <a:pt x="2019967" y="415195"/>
                    <a:pt x="2137886" y="494633"/>
                    <a:pt x="2226469" y="603695"/>
                  </a:cubicBezTo>
                  <a:cubicBezTo>
                    <a:pt x="2296287" y="689610"/>
                    <a:pt x="2347817" y="790480"/>
                    <a:pt x="2355628" y="900494"/>
                  </a:cubicBezTo>
                  <a:cubicBezTo>
                    <a:pt x="2363248" y="1007078"/>
                    <a:pt x="2329910" y="1111187"/>
                    <a:pt x="2281428" y="1206913"/>
                  </a:cubicBezTo>
                  <a:cubicBezTo>
                    <a:pt x="2233422" y="1301877"/>
                    <a:pt x="2170938" y="1388936"/>
                    <a:pt x="2092452" y="1460659"/>
                  </a:cubicBezTo>
                  <a:cubicBezTo>
                    <a:pt x="2016538" y="1530001"/>
                    <a:pt x="1927765" y="1583436"/>
                    <a:pt x="1834039" y="1625822"/>
                  </a:cubicBezTo>
                  <a:cubicBezTo>
                    <a:pt x="1743075" y="1666970"/>
                    <a:pt x="1647730" y="1697736"/>
                    <a:pt x="1558862" y="1743075"/>
                  </a:cubicBezTo>
                  <a:cubicBezTo>
                    <a:pt x="1494758" y="1775841"/>
                    <a:pt x="1434275" y="1816132"/>
                    <a:pt x="1386554" y="1869948"/>
                  </a:cubicBezTo>
                  <a:cubicBezTo>
                    <a:pt x="1334548" y="1928622"/>
                    <a:pt x="1300544" y="2000345"/>
                    <a:pt x="1271683" y="2073402"/>
                  </a:cubicBezTo>
                  <a:cubicBezTo>
                    <a:pt x="1235202" y="2165699"/>
                    <a:pt x="1206722" y="2260759"/>
                    <a:pt x="1178338" y="2355914"/>
                  </a:cubicBezTo>
                  <a:cubicBezTo>
                    <a:pt x="1156240" y="2429923"/>
                    <a:pt x="1134237" y="2504028"/>
                    <a:pt x="1113758" y="2578513"/>
                  </a:cubicBezTo>
                  <a:cubicBezTo>
                    <a:pt x="1090041" y="2664714"/>
                    <a:pt x="1068134" y="2751678"/>
                    <a:pt x="1034796" y="2834640"/>
                  </a:cubicBezTo>
                  <a:cubicBezTo>
                    <a:pt x="1000125" y="2920841"/>
                    <a:pt x="953643" y="3001613"/>
                    <a:pt x="905637" y="3081242"/>
                  </a:cubicBezTo>
                  <a:cubicBezTo>
                    <a:pt x="869442" y="3141155"/>
                    <a:pt x="832295" y="3200400"/>
                    <a:pt x="793147" y="3258407"/>
                  </a:cubicBezTo>
                  <a:cubicBezTo>
                    <a:pt x="718661" y="3368802"/>
                    <a:pt x="637223" y="3474434"/>
                    <a:pt x="546735" y="3571970"/>
                  </a:cubicBezTo>
                  <a:cubicBezTo>
                    <a:pt x="482632" y="3641027"/>
                    <a:pt x="414147" y="3705797"/>
                    <a:pt x="346996" y="3771900"/>
                  </a:cubicBezTo>
                  <a:cubicBezTo>
                    <a:pt x="288989" y="3828764"/>
                    <a:pt x="232029" y="3886676"/>
                    <a:pt x="174689" y="3944207"/>
                  </a:cubicBezTo>
                  <a:cubicBezTo>
                    <a:pt x="116586" y="4002596"/>
                    <a:pt x="58293" y="4060698"/>
                    <a:pt x="0" y="4118991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 sz="180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75B8B1EB-5E2B-472C-AE60-2EC5961F16F9}"/>
                </a:ext>
              </a:extLst>
            </p:cNvPr>
            <p:cNvSpPr/>
            <p:nvPr/>
          </p:nvSpPr>
          <p:spPr>
            <a:xfrm>
              <a:off x="4473129" y="923925"/>
              <a:ext cx="2059193" cy="3980116"/>
            </a:xfrm>
            <a:custGeom>
              <a:avLst/>
              <a:gdLst>
                <a:gd name="connsiteX0" fmla="*/ 0 w 2059193"/>
                <a:gd name="connsiteY0" fmla="*/ 3980116 h 3980116"/>
                <a:gd name="connsiteX1" fmla="*/ 471583 w 2059193"/>
                <a:gd name="connsiteY1" fmla="*/ 3515678 h 3980116"/>
                <a:gd name="connsiteX2" fmla="*/ 758666 w 2059193"/>
                <a:gd name="connsiteY2" fmla="*/ 3163824 h 3980116"/>
                <a:gd name="connsiteX3" fmla="*/ 940499 w 2059193"/>
                <a:gd name="connsiteY3" fmla="*/ 2780824 h 3980116"/>
                <a:gd name="connsiteX4" fmla="*/ 1055370 w 2059193"/>
                <a:gd name="connsiteY4" fmla="*/ 2242185 h 3980116"/>
                <a:gd name="connsiteX5" fmla="*/ 1136714 w 2059193"/>
                <a:gd name="connsiteY5" fmla="*/ 1878330 h 3980116"/>
                <a:gd name="connsiteX6" fmla="*/ 1246727 w 2059193"/>
                <a:gd name="connsiteY6" fmla="*/ 1562386 h 3980116"/>
                <a:gd name="connsiteX7" fmla="*/ 1378363 w 2059193"/>
                <a:gd name="connsiteY7" fmla="*/ 1430750 h 3980116"/>
                <a:gd name="connsiteX8" fmla="*/ 1691831 w 2059193"/>
                <a:gd name="connsiteY8" fmla="*/ 1394841 h 3980116"/>
                <a:gd name="connsiteX9" fmla="*/ 1914335 w 2059193"/>
                <a:gd name="connsiteY9" fmla="*/ 1323023 h 3980116"/>
                <a:gd name="connsiteX10" fmla="*/ 2055495 w 2059193"/>
                <a:gd name="connsiteY10" fmla="*/ 1098042 h 3980116"/>
                <a:gd name="connsiteX11" fmla="*/ 2033969 w 2059193"/>
                <a:gd name="connsiteY11" fmla="*/ 930497 h 3980116"/>
                <a:gd name="connsiteX12" fmla="*/ 1885664 w 2059193"/>
                <a:gd name="connsiteY12" fmla="*/ 760571 h 3980116"/>
                <a:gd name="connsiteX13" fmla="*/ 1636871 w 2059193"/>
                <a:gd name="connsiteY13" fmla="*/ 612172 h 3980116"/>
                <a:gd name="connsiteX14" fmla="*/ 1335405 w 2059193"/>
                <a:gd name="connsiteY14" fmla="*/ 459010 h 3980116"/>
                <a:gd name="connsiteX15" fmla="*/ 1234916 w 2059193"/>
                <a:gd name="connsiteY15" fmla="*/ 269939 h 3980116"/>
                <a:gd name="connsiteX16" fmla="*/ 1386935 w 2059193"/>
                <a:gd name="connsiteY16" fmla="*/ 0 h 3980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59193" h="3980116">
                  <a:moveTo>
                    <a:pt x="0" y="3980116"/>
                  </a:moveTo>
                  <a:cubicBezTo>
                    <a:pt x="91345" y="3889534"/>
                    <a:pt x="382715" y="3608737"/>
                    <a:pt x="471583" y="3515678"/>
                  </a:cubicBezTo>
                  <a:cubicBezTo>
                    <a:pt x="576358" y="3405949"/>
                    <a:pt x="675989" y="3290983"/>
                    <a:pt x="758666" y="3163824"/>
                  </a:cubicBezTo>
                  <a:cubicBezTo>
                    <a:pt x="836105" y="3044857"/>
                    <a:pt x="897445" y="2916079"/>
                    <a:pt x="940499" y="2780824"/>
                  </a:cubicBezTo>
                  <a:cubicBezTo>
                    <a:pt x="996315" y="2605754"/>
                    <a:pt x="1020985" y="2422874"/>
                    <a:pt x="1055370" y="2242185"/>
                  </a:cubicBezTo>
                  <a:cubicBezTo>
                    <a:pt x="1078611" y="2120075"/>
                    <a:pt x="1107472" y="1999107"/>
                    <a:pt x="1136714" y="1878330"/>
                  </a:cubicBezTo>
                  <a:cubicBezTo>
                    <a:pt x="1163098" y="1769174"/>
                    <a:pt x="1189482" y="1658588"/>
                    <a:pt x="1246727" y="1562386"/>
                  </a:cubicBezTo>
                  <a:cubicBezTo>
                    <a:pt x="1279208" y="1507808"/>
                    <a:pt x="1321689" y="1459039"/>
                    <a:pt x="1378363" y="1430750"/>
                  </a:cubicBezTo>
                  <a:cubicBezTo>
                    <a:pt x="1473327" y="1383221"/>
                    <a:pt x="1584865" y="1402652"/>
                    <a:pt x="1691831" y="1394841"/>
                  </a:cubicBezTo>
                  <a:cubicBezTo>
                    <a:pt x="1771079" y="1389031"/>
                    <a:pt x="1849279" y="1368266"/>
                    <a:pt x="1914335" y="1323023"/>
                  </a:cubicBezTo>
                  <a:cubicBezTo>
                    <a:pt x="1989963" y="1270445"/>
                    <a:pt x="2041493" y="1189101"/>
                    <a:pt x="2055495" y="1098042"/>
                  </a:cubicBezTo>
                  <a:cubicBezTo>
                    <a:pt x="2064258" y="1041178"/>
                    <a:pt x="2057591" y="982980"/>
                    <a:pt x="2033969" y="930497"/>
                  </a:cubicBezTo>
                  <a:cubicBezTo>
                    <a:pt x="2002727" y="861060"/>
                    <a:pt x="1945958" y="807625"/>
                    <a:pt x="1885664" y="760571"/>
                  </a:cubicBezTo>
                  <a:cubicBezTo>
                    <a:pt x="1809179" y="700945"/>
                    <a:pt x="1725549" y="651415"/>
                    <a:pt x="1636871" y="612172"/>
                  </a:cubicBezTo>
                  <a:cubicBezTo>
                    <a:pt x="1532763" y="566071"/>
                    <a:pt x="1421606" y="532543"/>
                    <a:pt x="1335405" y="459010"/>
                  </a:cubicBezTo>
                  <a:cubicBezTo>
                    <a:pt x="1277969" y="409956"/>
                    <a:pt x="1232059" y="344615"/>
                    <a:pt x="1234916" y="269939"/>
                  </a:cubicBezTo>
                  <a:cubicBezTo>
                    <a:pt x="1237012" y="211741"/>
                    <a:pt x="1386935" y="0"/>
                    <a:pt x="1386935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 sz="180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B4F5BD77-58D7-4B61-A666-1B4139A63A28}"/>
                </a:ext>
              </a:extLst>
            </p:cNvPr>
            <p:cNvSpPr/>
            <p:nvPr/>
          </p:nvSpPr>
          <p:spPr>
            <a:xfrm>
              <a:off x="4485131" y="1719357"/>
              <a:ext cx="743796" cy="2867501"/>
            </a:xfrm>
            <a:custGeom>
              <a:avLst/>
              <a:gdLst>
                <a:gd name="connsiteX0" fmla="*/ 11144 w 743796"/>
                <a:gd name="connsiteY0" fmla="*/ 0 h 2867501"/>
                <a:gd name="connsiteX1" fmla="*/ 353663 w 743796"/>
                <a:gd name="connsiteY1" fmla="*/ 55245 h 2867501"/>
                <a:gd name="connsiteX2" fmla="*/ 571405 w 743796"/>
                <a:gd name="connsiteY2" fmla="*/ 179737 h 2867501"/>
                <a:gd name="connsiteX3" fmla="*/ 688658 w 743796"/>
                <a:gd name="connsiteY3" fmla="*/ 368808 h 2867501"/>
                <a:gd name="connsiteX4" fmla="*/ 731711 w 743796"/>
                <a:gd name="connsiteY4" fmla="*/ 612934 h 2867501"/>
                <a:gd name="connsiteX5" fmla="*/ 725233 w 743796"/>
                <a:gd name="connsiteY5" fmla="*/ 995648 h 2867501"/>
                <a:gd name="connsiteX6" fmla="*/ 742855 w 743796"/>
                <a:gd name="connsiteY6" fmla="*/ 1499330 h 2867501"/>
                <a:gd name="connsiteX7" fmla="*/ 707898 w 743796"/>
                <a:gd name="connsiteY7" fmla="*/ 1793081 h 2867501"/>
                <a:gd name="connsiteX8" fmla="*/ 633222 w 743796"/>
                <a:gd name="connsiteY8" fmla="*/ 2073592 h 2867501"/>
                <a:gd name="connsiteX9" fmla="*/ 404527 w 743796"/>
                <a:gd name="connsiteY9" fmla="*/ 2472404 h 2867501"/>
                <a:gd name="connsiteX10" fmla="*/ 0 w 743796"/>
                <a:gd name="connsiteY10" fmla="*/ 2867501 h 28675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43796" h="2867501">
                  <a:moveTo>
                    <a:pt x="11144" y="0"/>
                  </a:moveTo>
                  <a:cubicBezTo>
                    <a:pt x="101060" y="2953"/>
                    <a:pt x="268796" y="25146"/>
                    <a:pt x="353663" y="55245"/>
                  </a:cubicBezTo>
                  <a:cubicBezTo>
                    <a:pt x="433483" y="83534"/>
                    <a:pt x="510635" y="120967"/>
                    <a:pt x="571405" y="179737"/>
                  </a:cubicBezTo>
                  <a:cubicBezTo>
                    <a:pt x="625412" y="231934"/>
                    <a:pt x="663607" y="297942"/>
                    <a:pt x="688658" y="368808"/>
                  </a:cubicBezTo>
                  <a:cubicBezTo>
                    <a:pt x="716375" y="447103"/>
                    <a:pt x="727996" y="529876"/>
                    <a:pt x="731711" y="612934"/>
                  </a:cubicBezTo>
                  <a:cubicBezTo>
                    <a:pt x="737426" y="740474"/>
                    <a:pt x="724948" y="867918"/>
                    <a:pt x="725233" y="995648"/>
                  </a:cubicBezTo>
                  <a:cubicBezTo>
                    <a:pt x="725710" y="1163765"/>
                    <a:pt x="748665" y="1331309"/>
                    <a:pt x="742855" y="1499330"/>
                  </a:cubicBezTo>
                  <a:cubicBezTo>
                    <a:pt x="739426" y="1598009"/>
                    <a:pt x="725996" y="1696022"/>
                    <a:pt x="707898" y="1793081"/>
                  </a:cubicBezTo>
                  <a:cubicBezTo>
                    <a:pt x="690086" y="1888426"/>
                    <a:pt x="666845" y="1982724"/>
                    <a:pt x="633222" y="2073592"/>
                  </a:cubicBezTo>
                  <a:cubicBezTo>
                    <a:pt x="579692" y="2218182"/>
                    <a:pt x="499682" y="2351056"/>
                    <a:pt x="404527" y="2472404"/>
                  </a:cubicBezTo>
                  <a:cubicBezTo>
                    <a:pt x="266033" y="2648902"/>
                    <a:pt x="179642" y="2732818"/>
                    <a:pt x="0" y="2867501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 sz="180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F5CBEC6B-EDB6-40B8-8771-E5AF41B8D698}"/>
                </a:ext>
              </a:extLst>
            </p:cNvPr>
            <p:cNvSpPr/>
            <p:nvPr/>
          </p:nvSpPr>
          <p:spPr>
            <a:xfrm>
              <a:off x="4473129" y="1912731"/>
              <a:ext cx="597294" cy="2543540"/>
            </a:xfrm>
            <a:custGeom>
              <a:avLst/>
              <a:gdLst>
                <a:gd name="connsiteX0" fmla="*/ 16478 w 597294"/>
                <a:gd name="connsiteY0" fmla="*/ 2079 h 2543540"/>
                <a:gd name="connsiteX1" fmla="*/ 299847 w 597294"/>
                <a:gd name="connsiteY1" fmla="*/ 53991 h 2543540"/>
                <a:gd name="connsiteX2" fmla="*/ 503206 w 597294"/>
                <a:gd name="connsiteY2" fmla="*/ 291354 h 2543540"/>
                <a:gd name="connsiteX3" fmla="*/ 525113 w 597294"/>
                <a:gd name="connsiteY3" fmla="*/ 724265 h 2543540"/>
                <a:gd name="connsiteX4" fmla="*/ 578930 w 597294"/>
                <a:gd name="connsiteY4" fmla="*/ 1117267 h 2543540"/>
                <a:gd name="connsiteX5" fmla="*/ 592931 w 597294"/>
                <a:gd name="connsiteY5" fmla="*/ 1476359 h 2543540"/>
                <a:gd name="connsiteX6" fmla="*/ 503206 w 597294"/>
                <a:gd name="connsiteY6" fmla="*/ 1859359 h 2543540"/>
                <a:gd name="connsiteX7" fmla="*/ 291846 w 597294"/>
                <a:gd name="connsiteY7" fmla="*/ 2250361 h 2543540"/>
                <a:gd name="connsiteX8" fmla="*/ 0 w 597294"/>
                <a:gd name="connsiteY8" fmla="*/ 2543540 h 254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97294" h="2543540">
                  <a:moveTo>
                    <a:pt x="16478" y="2079"/>
                  </a:moveTo>
                  <a:cubicBezTo>
                    <a:pt x="101441" y="-6684"/>
                    <a:pt x="224885" y="12557"/>
                    <a:pt x="299847" y="53991"/>
                  </a:cubicBezTo>
                  <a:cubicBezTo>
                    <a:pt x="394240" y="106092"/>
                    <a:pt x="468440" y="189341"/>
                    <a:pt x="503206" y="291354"/>
                  </a:cubicBezTo>
                  <a:cubicBezTo>
                    <a:pt x="550069" y="429085"/>
                    <a:pt x="520827" y="577770"/>
                    <a:pt x="525113" y="724265"/>
                  </a:cubicBezTo>
                  <a:cubicBezTo>
                    <a:pt x="529019" y="856472"/>
                    <a:pt x="561118" y="986012"/>
                    <a:pt x="578930" y="1117267"/>
                  </a:cubicBezTo>
                  <a:cubicBezTo>
                    <a:pt x="595122" y="1236234"/>
                    <a:pt x="602742" y="1356630"/>
                    <a:pt x="592931" y="1476359"/>
                  </a:cubicBezTo>
                  <a:cubicBezTo>
                    <a:pt x="582073" y="1607709"/>
                    <a:pt x="549783" y="1736011"/>
                    <a:pt x="503206" y="1859359"/>
                  </a:cubicBezTo>
                  <a:cubicBezTo>
                    <a:pt x="450628" y="1998710"/>
                    <a:pt x="383857" y="2133298"/>
                    <a:pt x="291846" y="2250361"/>
                  </a:cubicBezTo>
                  <a:cubicBezTo>
                    <a:pt x="231553" y="2327132"/>
                    <a:pt x="73819" y="2479532"/>
                    <a:pt x="0" y="254354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 sz="1800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91BD0EE8-AA47-4044-9251-9F5A4B820120}"/>
                </a:ext>
              </a:extLst>
            </p:cNvPr>
            <p:cNvSpPr/>
            <p:nvPr/>
          </p:nvSpPr>
          <p:spPr>
            <a:xfrm>
              <a:off x="4491417" y="2227197"/>
              <a:ext cx="389425" cy="2011236"/>
            </a:xfrm>
            <a:custGeom>
              <a:avLst/>
              <a:gdLst>
                <a:gd name="connsiteX0" fmla="*/ 0 w 389425"/>
                <a:gd name="connsiteY0" fmla="*/ 33 h 2011236"/>
                <a:gd name="connsiteX1" fmla="*/ 171260 w 389425"/>
                <a:gd name="connsiteY1" fmla="*/ 60326 h 2011236"/>
                <a:gd name="connsiteX2" fmla="*/ 211455 w 389425"/>
                <a:gd name="connsiteY2" fmla="*/ 221204 h 2011236"/>
                <a:gd name="connsiteX3" fmla="*/ 243078 w 389425"/>
                <a:gd name="connsiteY3" fmla="*/ 448089 h 2011236"/>
                <a:gd name="connsiteX4" fmla="*/ 346424 w 389425"/>
                <a:gd name="connsiteY4" fmla="*/ 789941 h 2011236"/>
                <a:gd name="connsiteX5" fmla="*/ 372237 w 389425"/>
                <a:gd name="connsiteY5" fmla="*/ 942151 h 2011236"/>
                <a:gd name="connsiteX6" fmla="*/ 386620 w 389425"/>
                <a:gd name="connsiteY6" fmla="*/ 1272478 h 2011236"/>
                <a:gd name="connsiteX7" fmla="*/ 280416 w 389425"/>
                <a:gd name="connsiteY7" fmla="*/ 1660241 h 2011236"/>
                <a:gd name="connsiteX8" fmla="*/ 151257 w 389425"/>
                <a:gd name="connsiteY8" fmla="*/ 1844073 h 2011236"/>
                <a:gd name="connsiteX9" fmla="*/ 1905 w 389425"/>
                <a:gd name="connsiteY9" fmla="*/ 2011237 h 2011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89425" h="2011236">
                  <a:moveTo>
                    <a:pt x="0" y="33"/>
                  </a:moveTo>
                  <a:cubicBezTo>
                    <a:pt x="57912" y="-824"/>
                    <a:pt x="136112" y="14892"/>
                    <a:pt x="171260" y="60326"/>
                  </a:cubicBezTo>
                  <a:cubicBezTo>
                    <a:pt x="205645" y="104903"/>
                    <a:pt x="207740" y="164244"/>
                    <a:pt x="211455" y="221204"/>
                  </a:cubicBezTo>
                  <a:cubicBezTo>
                    <a:pt x="216408" y="297594"/>
                    <a:pt x="225838" y="373604"/>
                    <a:pt x="243078" y="448089"/>
                  </a:cubicBezTo>
                  <a:cubicBezTo>
                    <a:pt x="269939" y="564199"/>
                    <a:pt x="319183" y="673927"/>
                    <a:pt x="346424" y="789941"/>
                  </a:cubicBezTo>
                  <a:cubicBezTo>
                    <a:pt x="358235" y="840043"/>
                    <a:pt x="365951" y="891097"/>
                    <a:pt x="372237" y="942151"/>
                  </a:cubicBezTo>
                  <a:cubicBezTo>
                    <a:pt x="385858" y="1051784"/>
                    <a:pt x="394049" y="1162274"/>
                    <a:pt x="386620" y="1272478"/>
                  </a:cubicBezTo>
                  <a:cubicBezTo>
                    <a:pt x="377476" y="1407828"/>
                    <a:pt x="344996" y="1541178"/>
                    <a:pt x="280416" y="1660241"/>
                  </a:cubicBezTo>
                  <a:cubicBezTo>
                    <a:pt x="244602" y="1726249"/>
                    <a:pt x="199358" y="1786352"/>
                    <a:pt x="151257" y="1844073"/>
                  </a:cubicBezTo>
                  <a:cubicBezTo>
                    <a:pt x="79534" y="1930084"/>
                    <a:pt x="89345" y="1941419"/>
                    <a:pt x="1905" y="2011237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 sz="1800" dirty="0"/>
            </a:p>
          </p:txBody>
        </p:sp>
      </p:grpSp>
      <p:grpSp>
        <p:nvGrpSpPr>
          <p:cNvPr id="19" name="Graphic 157">
            <a:extLst>
              <a:ext uri="{FF2B5EF4-FFF2-40B4-BE49-F238E27FC236}">
                <a16:creationId xmlns:a16="http://schemas.microsoft.com/office/drawing/2014/main" id="{C3279E8D-2BAA-4CB1-834B-09FADD54DE56}"/>
              </a:ext>
            </a:extLst>
          </p:cNvPr>
          <p:cNvGrpSpPr/>
          <p:nvPr/>
        </p:nvGrpSpPr>
        <p:grpSpPr>
          <a:xfrm>
            <a:off x="4843462" y="5825067"/>
            <a:ext cx="1985209" cy="6366932"/>
            <a:chOff x="4114800" y="1423987"/>
            <a:chExt cx="3961542" cy="4007547"/>
          </a:xfrm>
          <a:noFill/>
        </p:grpSpPr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3456F18E-4F61-486D-9CD6-65B30372C534}"/>
                </a:ext>
              </a:extLst>
            </p:cNvPr>
            <p:cNvSpPr/>
            <p:nvPr/>
          </p:nvSpPr>
          <p:spPr>
            <a:xfrm>
              <a:off x="4114800" y="1423987"/>
              <a:ext cx="3946874" cy="3989641"/>
            </a:xfrm>
            <a:custGeom>
              <a:avLst/>
              <a:gdLst>
                <a:gd name="connsiteX0" fmla="*/ 0 w 3946874"/>
                <a:gd name="connsiteY0" fmla="*/ 3989641 h 3989641"/>
                <a:gd name="connsiteX1" fmla="*/ 79439 w 3946874"/>
                <a:gd name="connsiteY1" fmla="*/ 3891153 h 3989641"/>
                <a:gd name="connsiteX2" fmla="*/ 297371 w 3946874"/>
                <a:gd name="connsiteY2" fmla="*/ 3626930 h 3989641"/>
                <a:gd name="connsiteX3" fmla="*/ 454343 w 3946874"/>
                <a:gd name="connsiteY3" fmla="*/ 3440335 h 3989641"/>
                <a:gd name="connsiteX4" fmla="*/ 622363 w 3946874"/>
                <a:gd name="connsiteY4" fmla="*/ 3290697 h 3989641"/>
                <a:gd name="connsiteX5" fmla="*/ 927068 w 3946874"/>
                <a:gd name="connsiteY5" fmla="*/ 3087434 h 3989641"/>
                <a:gd name="connsiteX6" fmla="*/ 1176338 w 3946874"/>
                <a:gd name="connsiteY6" fmla="*/ 2915603 h 3989641"/>
                <a:gd name="connsiteX7" fmla="*/ 1394270 w 3946874"/>
                <a:gd name="connsiteY7" fmla="*/ 2780729 h 3989641"/>
                <a:gd name="connsiteX8" fmla="*/ 1601057 w 3946874"/>
                <a:gd name="connsiteY8" fmla="*/ 2723483 h 3989641"/>
                <a:gd name="connsiteX9" fmla="*/ 1756220 w 3946874"/>
                <a:gd name="connsiteY9" fmla="*/ 2743772 h 3989641"/>
                <a:gd name="connsiteX10" fmla="*/ 1889189 w 3946874"/>
                <a:gd name="connsiteY10" fmla="*/ 2765965 h 3989641"/>
                <a:gd name="connsiteX11" fmla="*/ 2007394 w 3946874"/>
                <a:gd name="connsiteY11" fmla="*/ 2765965 h 3989641"/>
                <a:gd name="connsiteX12" fmla="*/ 2184654 w 3946874"/>
                <a:gd name="connsiteY12" fmla="*/ 2671763 h 3989641"/>
                <a:gd name="connsiteX13" fmla="*/ 2372773 w 3946874"/>
                <a:gd name="connsiteY13" fmla="*/ 2538984 h 3989641"/>
                <a:gd name="connsiteX14" fmla="*/ 2439543 w 3946874"/>
                <a:gd name="connsiteY14" fmla="*/ 2510504 h 3989641"/>
                <a:gd name="connsiteX15" fmla="*/ 2650617 w 3946874"/>
                <a:gd name="connsiteY15" fmla="*/ 2434781 h 3989641"/>
                <a:gd name="connsiteX16" fmla="*/ 2785110 w 3946874"/>
                <a:gd name="connsiteY16" fmla="*/ 2383060 h 3989641"/>
                <a:gd name="connsiteX17" fmla="*/ 2897315 w 3946874"/>
                <a:gd name="connsiteY17" fmla="*/ 2318861 h 3989641"/>
                <a:gd name="connsiteX18" fmla="*/ 2997994 w 3946874"/>
                <a:gd name="connsiteY18" fmla="*/ 2226183 h 3989641"/>
                <a:gd name="connsiteX19" fmla="*/ 3061240 w 3946874"/>
                <a:gd name="connsiteY19" fmla="*/ 2141506 h 3989641"/>
                <a:gd name="connsiteX20" fmla="*/ 3152108 w 3946874"/>
                <a:gd name="connsiteY20" fmla="*/ 2005203 h 3989641"/>
                <a:gd name="connsiteX21" fmla="*/ 3274124 w 3946874"/>
                <a:gd name="connsiteY21" fmla="*/ 1871567 h 3989641"/>
                <a:gd name="connsiteX22" fmla="*/ 3388138 w 3946874"/>
                <a:gd name="connsiteY22" fmla="*/ 1770888 h 3989641"/>
                <a:gd name="connsiteX23" fmla="*/ 3466529 w 3946874"/>
                <a:gd name="connsiteY23" fmla="*/ 1679162 h 3989641"/>
                <a:gd name="connsiteX24" fmla="*/ 3538633 w 3946874"/>
                <a:gd name="connsiteY24" fmla="*/ 1551718 h 3989641"/>
                <a:gd name="connsiteX25" fmla="*/ 3588544 w 3946874"/>
                <a:gd name="connsiteY25" fmla="*/ 1376172 h 3989641"/>
                <a:gd name="connsiteX26" fmla="*/ 3597402 w 3946874"/>
                <a:gd name="connsiteY26" fmla="*/ 1293305 h 3989641"/>
                <a:gd name="connsiteX27" fmla="*/ 3721227 w 3946874"/>
                <a:gd name="connsiteY27" fmla="*/ 880491 h 3989641"/>
                <a:gd name="connsiteX28" fmla="*/ 3761137 w 3946874"/>
                <a:gd name="connsiteY28" fmla="*/ 463677 h 3989641"/>
                <a:gd name="connsiteX29" fmla="*/ 3946874 w 3946874"/>
                <a:gd name="connsiteY29" fmla="*/ 0 h 39896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3946874" h="3989641">
                  <a:moveTo>
                    <a:pt x="0" y="3989641"/>
                  </a:moveTo>
                  <a:cubicBezTo>
                    <a:pt x="19050" y="3957257"/>
                    <a:pt x="50959" y="3916013"/>
                    <a:pt x="79439" y="3891153"/>
                  </a:cubicBezTo>
                  <a:cubicBezTo>
                    <a:pt x="165544" y="3815906"/>
                    <a:pt x="227933" y="3717989"/>
                    <a:pt x="297371" y="3626930"/>
                  </a:cubicBezTo>
                  <a:cubicBezTo>
                    <a:pt x="346615" y="3562255"/>
                    <a:pt x="398050" y="3499009"/>
                    <a:pt x="454343" y="3440335"/>
                  </a:cubicBezTo>
                  <a:cubicBezTo>
                    <a:pt x="506349" y="3386042"/>
                    <a:pt x="562642" y="3336227"/>
                    <a:pt x="622363" y="3290697"/>
                  </a:cubicBezTo>
                  <a:cubicBezTo>
                    <a:pt x="719519" y="3216688"/>
                    <a:pt x="824960" y="3154585"/>
                    <a:pt x="927068" y="3087434"/>
                  </a:cubicBezTo>
                  <a:cubicBezTo>
                    <a:pt x="1011365" y="3031998"/>
                    <a:pt x="1093565" y="2973324"/>
                    <a:pt x="1176338" y="2915603"/>
                  </a:cubicBezTo>
                  <a:cubicBezTo>
                    <a:pt x="1246537" y="2866644"/>
                    <a:pt x="1317308" y="2818066"/>
                    <a:pt x="1394270" y="2780729"/>
                  </a:cubicBezTo>
                  <a:cubicBezTo>
                    <a:pt x="1459421" y="2749106"/>
                    <a:pt x="1528763" y="2724436"/>
                    <a:pt x="1601057" y="2723483"/>
                  </a:cubicBezTo>
                  <a:cubicBezTo>
                    <a:pt x="1653350" y="2722721"/>
                    <a:pt x="1704785" y="2733485"/>
                    <a:pt x="1756220" y="2743772"/>
                  </a:cubicBezTo>
                  <a:cubicBezTo>
                    <a:pt x="1800320" y="2752630"/>
                    <a:pt x="1844612" y="2760250"/>
                    <a:pt x="1889189" y="2765965"/>
                  </a:cubicBezTo>
                  <a:cubicBezTo>
                    <a:pt x="1928622" y="2771013"/>
                    <a:pt x="1968437" y="2773299"/>
                    <a:pt x="2007394" y="2765965"/>
                  </a:cubicBezTo>
                  <a:cubicBezTo>
                    <a:pt x="2073878" y="2753487"/>
                    <a:pt x="2130647" y="2712911"/>
                    <a:pt x="2184654" y="2671763"/>
                  </a:cubicBezTo>
                  <a:cubicBezTo>
                    <a:pt x="2245900" y="2625090"/>
                    <a:pt x="2304002" y="2573465"/>
                    <a:pt x="2372773" y="2538984"/>
                  </a:cubicBezTo>
                  <a:cubicBezTo>
                    <a:pt x="2394395" y="2528126"/>
                    <a:pt x="2416874" y="2518982"/>
                    <a:pt x="2439543" y="2510504"/>
                  </a:cubicBezTo>
                  <a:cubicBezTo>
                    <a:pt x="2509552" y="2484215"/>
                    <a:pt x="2580037" y="2459450"/>
                    <a:pt x="2650617" y="2434781"/>
                  </a:cubicBezTo>
                  <a:cubicBezTo>
                    <a:pt x="2695956" y="2418874"/>
                    <a:pt x="2741295" y="2402872"/>
                    <a:pt x="2785110" y="2383060"/>
                  </a:cubicBezTo>
                  <a:cubicBezTo>
                    <a:pt x="2824448" y="2365248"/>
                    <a:pt x="2862358" y="2344198"/>
                    <a:pt x="2897315" y="2318861"/>
                  </a:cubicBezTo>
                  <a:cubicBezTo>
                    <a:pt x="2934367" y="2292096"/>
                    <a:pt x="2968085" y="2260854"/>
                    <a:pt x="2997994" y="2226183"/>
                  </a:cubicBezTo>
                  <a:cubicBezTo>
                    <a:pt x="3020949" y="2199513"/>
                    <a:pt x="3041714" y="2170938"/>
                    <a:pt x="3061240" y="2141506"/>
                  </a:cubicBezTo>
                  <a:cubicBezTo>
                    <a:pt x="3091529" y="2095976"/>
                    <a:pt x="3119533" y="2049018"/>
                    <a:pt x="3152108" y="2005203"/>
                  </a:cubicBezTo>
                  <a:cubicBezTo>
                    <a:pt x="3188113" y="1956626"/>
                    <a:pt x="3229261" y="1912144"/>
                    <a:pt x="3274124" y="1871567"/>
                  </a:cubicBezTo>
                  <a:cubicBezTo>
                    <a:pt x="3311747" y="1837563"/>
                    <a:pt x="3351848" y="1806321"/>
                    <a:pt x="3388138" y="1770888"/>
                  </a:cubicBezTo>
                  <a:cubicBezTo>
                    <a:pt x="3416999" y="1742694"/>
                    <a:pt x="3443002" y="1711833"/>
                    <a:pt x="3466529" y="1679162"/>
                  </a:cubicBezTo>
                  <a:cubicBezTo>
                    <a:pt x="3495008" y="1639348"/>
                    <a:pt x="3519392" y="1596771"/>
                    <a:pt x="3538633" y="1551718"/>
                  </a:cubicBezTo>
                  <a:cubicBezTo>
                    <a:pt x="3562731" y="1495616"/>
                    <a:pt x="3578924" y="1436465"/>
                    <a:pt x="3588544" y="1376172"/>
                  </a:cubicBezTo>
                  <a:cubicBezTo>
                    <a:pt x="3592925" y="1348740"/>
                    <a:pt x="3595688" y="1321022"/>
                    <a:pt x="3597402" y="1293305"/>
                  </a:cubicBezTo>
                  <a:cubicBezTo>
                    <a:pt x="3605974" y="1155859"/>
                    <a:pt x="3717703" y="1018127"/>
                    <a:pt x="3721227" y="880491"/>
                  </a:cubicBezTo>
                  <a:cubicBezTo>
                    <a:pt x="3724751" y="740855"/>
                    <a:pt x="3743135" y="602171"/>
                    <a:pt x="3761137" y="463677"/>
                  </a:cubicBezTo>
                  <a:cubicBezTo>
                    <a:pt x="3776186" y="347758"/>
                    <a:pt x="3934968" y="116205"/>
                    <a:pt x="3946874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 sz="1800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318DDF45-08F0-46B6-A0B7-133735C94F47}"/>
                </a:ext>
              </a:extLst>
            </p:cNvPr>
            <p:cNvSpPr/>
            <p:nvPr/>
          </p:nvSpPr>
          <p:spPr>
            <a:xfrm>
              <a:off x="4395978" y="2441733"/>
              <a:ext cx="3665410" cy="2985611"/>
            </a:xfrm>
            <a:custGeom>
              <a:avLst/>
              <a:gdLst>
                <a:gd name="connsiteX0" fmla="*/ 0 w 3665410"/>
                <a:gd name="connsiteY0" fmla="*/ 2985611 h 2985611"/>
                <a:gd name="connsiteX1" fmla="*/ 166211 w 3665410"/>
                <a:gd name="connsiteY1" fmla="*/ 2699766 h 2985611"/>
                <a:gd name="connsiteX2" fmla="*/ 397002 w 3665410"/>
                <a:gd name="connsiteY2" fmla="*/ 2414969 h 2985611"/>
                <a:gd name="connsiteX3" fmla="*/ 620173 w 3665410"/>
                <a:gd name="connsiteY3" fmla="*/ 2237899 h 2985611"/>
                <a:gd name="connsiteX4" fmla="*/ 823341 w 3665410"/>
                <a:gd name="connsiteY4" fmla="*/ 2085499 h 2985611"/>
                <a:gd name="connsiteX5" fmla="*/ 1089565 w 3665410"/>
                <a:gd name="connsiteY5" fmla="*/ 1911477 h 2985611"/>
                <a:gd name="connsiteX6" fmla="*/ 1145000 w 3665410"/>
                <a:gd name="connsiteY6" fmla="*/ 1886807 h 2985611"/>
                <a:gd name="connsiteX7" fmla="*/ 1375791 w 3665410"/>
                <a:gd name="connsiteY7" fmla="*/ 1842135 h 2985611"/>
                <a:gd name="connsiteX8" fmla="*/ 1486567 w 3665410"/>
                <a:gd name="connsiteY8" fmla="*/ 1857566 h 2985611"/>
                <a:gd name="connsiteX9" fmla="*/ 1568101 w 3665410"/>
                <a:gd name="connsiteY9" fmla="*/ 1871377 h 2985611"/>
                <a:gd name="connsiteX10" fmla="*/ 1810607 w 3665410"/>
                <a:gd name="connsiteY10" fmla="*/ 1871377 h 2985611"/>
                <a:gd name="connsiteX11" fmla="*/ 1997964 w 3665410"/>
                <a:gd name="connsiteY11" fmla="*/ 1790605 h 2985611"/>
                <a:gd name="connsiteX12" fmla="*/ 2109883 w 3665410"/>
                <a:gd name="connsiteY12" fmla="*/ 1702784 h 2985611"/>
                <a:gd name="connsiteX13" fmla="*/ 2321433 w 3665410"/>
                <a:gd name="connsiteY13" fmla="*/ 1552384 h 2985611"/>
                <a:gd name="connsiteX14" fmla="*/ 2558891 w 3665410"/>
                <a:gd name="connsiteY14" fmla="*/ 1453420 h 2985611"/>
                <a:gd name="connsiteX15" fmla="*/ 2709767 w 3665410"/>
                <a:gd name="connsiteY15" fmla="*/ 1377887 h 2985611"/>
                <a:gd name="connsiteX16" fmla="*/ 2885408 w 3665410"/>
                <a:gd name="connsiteY16" fmla="*/ 1237393 h 2985611"/>
                <a:gd name="connsiteX17" fmla="*/ 3017711 w 3665410"/>
                <a:gd name="connsiteY17" fmla="*/ 1072229 h 2985611"/>
                <a:gd name="connsiteX18" fmla="*/ 3150680 w 3665410"/>
                <a:gd name="connsiteY18" fmla="*/ 921830 h 2985611"/>
                <a:gd name="connsiteX19" fmla="*/ 3255169 w 3665410"/>
                <a:gd name="connsiteY19" fmla="*/ 801815 h 2985611"/>
                <a:gd name="connsiteX20" fmla="*/ 3339275 w 3665410"/>
                <a:gd name="connsiteY20" fmla="*/ 694182 h 2985611"/>
                <a:gd name="connsiteX21" fmla="*/ 3409188 w 3665410"/>
                <a:gd name="connsiteY21" fmla="*/ 546926 h 2985611"/>
                <a:gd name="connsiteX22" fmla="*/ 3464243 w 3665410"/>
                <a:gd name="connsiteY22" fmla="*/ 347663 h 2985611"/>
                <a:gd name="connsiteX23" fmla="*/ 3665411 w 3665410"/>
                <a:gd name="connsiteY23" fmla="*/ 0 h 29856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665410" h="2985611">
                  <a:moveTo>
                    <a:pt x="0" y="2985611"/>
                  </a:moveTo>
                  <a:cubicBezTo>
                    <a:pt x="0" y="2985611"/>
                    <a:pt x="86773" y="2802827"/>
                    <a:pt x="166211" y="2699766"/>
                  </a:cubicBezTo>
                  <a:cubicBezTo>
                    <a:pt x="240983" y="2602706"/>
                    <a:pt x="309182" y="2500122"/>
                    <a:pt x="397002" y="2414969"/>
                  </a:cubicBezTo>
                  <a:cubicBezTo>
                    <a:pt x="465296" y="2348865"/>
                    <a:pt x="543592" y="2294477"/>
                    <a:pt x="620173" y="2237899"/>
                  </a:cubicBezTo>
                  <a:cubicBezTo>
                    <a:pt x="688277" y="2187607"/>
                    <a:pt x="755333" y="2135886"/>
                    <a:pt x="823341" y="2085499"/>
                  </a:cubicBezTo>
                  <a:cubicBezTo>
                    <a:pt x="908685" y="2022253"/>
                    <a:pt x="994791" y="1959197"/>
                    <a:pt x="1089565" y="1911477"/>
                  </a:cubicBezTo>
                  <a:cubicBezTo>
                    <a:pt x="1107662" y="1902428"/>
                    <a:pt x="1126141" y="1894141"/>
                    <a:pt x="1145000" y="1886807"/>
                  </a:cubicBezTo>
                  <a:cubicBezTo>
                    <a:pt x="1218819" y="1858232"/>
                    <a:pt x="1296924" y="1838611"/>
                    <a:pt x="1375791" y="1842135"/>
                  </a:cubicBezTo>
                  <a:cubicBezTo>
                    <a:pt x="1413129" y="1843754"/>
                    <a:pt x="1449896" y="1850422"/>
                    <a:pt x="1486567" y="1857566"/>
                  </a:cubicBezTo>
                  <a:cubicBezTo>
                    <a:pt x="1513618" y="1862804"/>
                    <a:pt x="1540859" y="1867376"/>
                    <a:pt x="1568101" y="1871377"/>
                  </a:cubicBezTo>
                  <a:cubicBezTo>
                    <a:pt x="1648778" y="1883188"/>
                    <a:pt x="1730978" y="1887665"/>
                    <a:pt x="1810607" y="1871377"/>
                  </a:cubicBezTo>
                  <a:cubicBezTo>
                    <a:pt x="1877854" y="1857661"/>
                    <a:pt x="1941100" y="1829086"/>
                    <a:pt x="1997964" y="1790605"/>
                  </a:cubicBezTo>
                  <a:cubicBezTo>
                    <a:pt x="2037302" y="1764030"/>
                    <a:pt x="2073497" y="1733264"/>
                    <a:pt x="2109883" y="1702784"/>
                  </a:cubicBezTo>
                  <a:cubicBezTo>
                    <a:pt x="2176367" y="1647063"/>
                    <a:pt x="2244852" y="1593151"/>
                    <a:pt x="2321433" y="1552384"/>
                  </a:cubicBezTo>
                  <a:cubicBezTo>
                    <a:pt x="2397157" y="1512094"/>
                    <a:pt x="2479548" y="1486281"/>
                    <a:pt x="2558891" y="1453420"/>
                  </a:cubicBezTo>
                  <a:cubicBezTo>
                    <a:pt x="2610898" y="1431798"/>
                    <a:pt x="2661571" y="1407033"/>
                    <a:pt x="2709767" y="1377887"/>
                  </a:cubicBezTo>
                  <a:cubicBezTo>
                    <a:pt x="2774252" y="1338929"/>
                    <a:pt x="2834069" y="1292447"/>
                    <a:pt x="2885408" y="1237393"/>
                  </a:cubicBezTo>
                  <a:cubicBezTo>
                    <a:pt x="2933605" y="1185767"/>
                    <a:pt x="2973324" y="1127093"/>
                    <a:pt x="3017711" y="1072229"/>
                  </a:cubicBezTo>
                  <a:cubicBezTo>
                    <a:pt x="3059811" y="1020223"/>
                    <a:pt x="3105912" y="971645"/>
                    <a:pt x="3150680" y="921830"/>
                  </a:cubicBezTo>
                  <a:cubicBezTo>
                    <a:pt x="3186113" y="882396"/>
                    <a:pt x="3220593" y="842010"/>
                    <a:pt x="3255169" y="801815"/>
                  </a:cubicBezTo>
                  <a:cubicBezTo>
                    <a:pt x="3284887" y="767239"/>
                    <a:pt x="3314605" y="732473"/>
                    <a:pt x="3339275" y="694182"/>
                  </a:cubicBezTo>
                  <a:cubicBezTo>
                    <a:pt x="3368707" y="648367"/>
                    <a:pt x="3390138" y="597980"/>
                    <a:pt x="3409188" y="546926"/>
                  </a:cubicBezTo>
                  <a:cubicBezTo>
                    <a:pt x="3433382" y="482156"/>
                    <a:pt x="3453384" y="415861"/>
                    <a:pt x="3464243" y="347663"/>
                  </a:cubicBezTo>
                  <a:cubicBezTo>
                    <a:pt x="3476244" y="272224"/>
                    <a:pt x="3661696" y="76295"/>
                    <a:pt x="3665411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 sz="1800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B9D0CC0F-710D-43F4-BC86-763767420133}"/>
                </a:ext>
              </a:extLst>
            </p:cNvPr>
            <p:cNvSpPr/>
            <p:nvPr/>
          </p:nvSpPr>
          <p:spPr>
            <a:xfrm>
              <a:off x="7790402" y="5229700"/>
              <a:ext cx="285940" cy="199072"/>
            </a:xfrm>
            <a:custGeom>
              <a:avLst/>
              <a:gdLst>
                <a:gd name="connsiteX0" fmla="*/ 0 w 285940"/>
                <a:gd name="connsiteY0" fmla="*/ 199073 h 199072"/>
                <a:gd name="connsiteX1" fmla="*/ 285940 w 285940"/>
                <a:gd name="connsiteY1" fmla="*/ 0 h 1990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85940" h="199072">
                  <a:moveTo>
                    <a:pt x="0" y="199073"/>
                  </a:moveTo>
                  <a:cubicBezTo>
                    <a:pt x="0" y="199073"/>
                    <a:pt x="242125" y="39243"/>
                    <a:pt x="285940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 sz="1800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6FB36AB6-CB81-495A-8A33-C0BCE67D6F23}"/>
                </a:ext>
              </a:extLst>
            </p:cNvPr>
            <p:cNvSpPr/>
            <p:nvPr/>
          </p:nvSpPr>
          <p:spPr>
            <a:xfrm>
              <a:off x="7393114" y="5049773"/>
              <a:ext cx="655796" cy="381190"/>
            </a:xfrm>
            <a:custGeom>
              <a:avLst/>
              <a:gdLst>
                <a:gd name="connsiteX0" fmla="*/ 0 w 655796"/>
                <a:gd name="connsiteY0" fmla="*/ 381190 h 381190"/>
                <a:gd name="connsiteX1" fmla="*/ 655796 w 655796"/>
                <a:gd name="connsiteY1" fmla="*/ 0 h 3811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655796" h="381190">
                  <a:moveTo>
                    <a:pt x="0" y="381190"/>
                  </a:moveTo>
                  <a:cubicBezTo>
                    <a:pt x="0" y="381190"/>
                    <a:pt x="461105" y="172117"/>
                    <a:pt x="655796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 sz="1800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1993F7E6-ABF6-482D-BEA5-B4E607DDB433}"/>
                </a:ext>
              </a:extLst>
            </p:cNvPr>
            <p:cNvSpPr/>
            <p:nvPr/>
          </p:nvSpPr>
          <p:spPr>
            <a:xfrm>
              <a:off x="5154072" y="3867816"/>
              <a:ext cx="2907315" cy="1544764"/>
            </a:xfrm>
            <a:custGeom>
              <a:avLst/>
              <a:gdLst>
                <a:gd name="connsiteX0" fmla="*/ 0 w 2907315"/>
                <a:gd name="connsiteY0" fmla="*/ 1544764 h 1544764"/>
                <a:gd name="connsiteX1" fmla="*/ 201644 w 2907315"/>
                <a:gd name="connsiteY1" fmla="*/ 1352550 h 1544764"/>
                <a:gd name="connsiteX2" fmla="*/ 423196 w 2907315"/>
                <a:gd name="connsiteY2" fmla="*/ 1196054 h 1544764"/>
                <a:gd name="connsiteX3" fmla="*/ 782193 w 2907315"/>
                <a:gd name="connsiteY3" fmla="*/ 1099947 h 1544764"/>
                <a:gd name="connsiteX4" fmla="*/ 1052513 w 2907315"/>
                <a:gd name="connsiteY4" fmla="*/ 1042321 h 1544764"/>
                <a:gd name="connsiteX5" fmla="*/ 1311783 w 2907315"/>
                <a:gd name="connsiteY5" fmla="*/ 1056037 h 1544764"/>
                <a:gd name="connsiteX6" fmla="*/ 1484662 w 2907315"/>
                <a:gd name="connsiteY6" fmla="*/ 1083469 h 1544764"/>
                <a:gd name="connsiteX7" fmla="*/ 1788224 w 2907315"/>
                <a:gd name="connsiteY7" fmla="*/ 1023080 h 1544764"/>
                <a:gd name="connsiteX8" fmla="*/ 2269045 w 2907315"/>
                <a:gd name="connsiteY8" fmla="*/ 734758 h 1544764"/>
                <a:gd name="connsiteX9" fmla="*/ 2534984 w 2907315"/>
                <a:gd name="connsiteY9" fmla="*/ 572738 h 1544764"/>
                <a:gd name="connsiteX10" fmla="*/ 2907316 w 2907315"/>
                <a:gd name="connsiteY10" fmla="*/ 0 h 15447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907315" h="1544764">
                  <a:moveTo>
                    <a:pt x="0" y="1544764"/>
                  </a:moveTo>
                  <a:cubicBezTo>
                    <a:pt x="0" y="1544764"/>
                    <a:pt x="98012" y="1443990"/>
                    <a:pt x="201644" y="1352550"/>
                  </a:cubicBezTo>
                  <a:cubicBezTo>
                    <a:pt x="271272" y="1291209"/>
                    <a:pt x="343662" y="1234249"/>
                    <a:pt x="423196" y="1196054"/>
                  </a:cubicBezTo>
                  <a:cubicBezTo>
                    <a:pt x="537591" y="1141095"/>
                    <a:pt x="661226" y="1127189"/>
                    <a:pt x="782193" y="1099947"/>
                  </a:cubicBezTo>
                  <a:cubicBezTo>
                    <a:pt x="872300" y="1079659"/>
                    <a:pt x="961358" y="1051370"/>
                    <a:pt x="1052513" y="1042321"/>
                  </a:cubicBezTo>
                  <a:cubicBezTo>
                    <a:pt x="1139000" y="1033653"/>
                    <a:pt x="1225868" y="1040321"/>
                    <a:pt x="1311783" y="1056037"/>
                  </a:cubicBezTo>
                  <a:cubicBezTo>
                    <a:pt x="1369314" y="1066609"/>
                    <a:pt x="1426559" y="1079373"/>
                    <a:pt x="1484662" y="1083469"/>
                  </a:cubicBezTo>
                  <a:cubicBezTo>
                    <a:pt x="1587913" y="1090803"/>
                    <a:pt x="1690402" y="1064800"/>
                    <a:pt x="1788224" y="1023080"/>
                  </a:cubicBezTo>
                  <a:cubicBezTo>
                    <a:pt x="1956721" y="951262"/>
                    <a:pt x="2106549" y="825722"/>
                    <a:pt x="2269045" y="734758"/>
                  </a:cubicBezTo>
                  <a:cubicBezTo>
                    <a:pt x="2359438" y="684181"/>
                    <a:pt x="2452497" y="640556"/>
                    <a:pt x="2534984" y="572738"/>
                  </a:cubicBezTo>
                  <a:cubicBezTo>
                    <a:pt x="2673001" y="459391"/>
                    <a:pt x="2847023" y="191453"/>
                    <a:pt x="2907316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 sz="1800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DCA0B097-C21A-40B4-95E4-2FFA9697F824}"/>
                </a:ext>
              </a:extLst>
            </p:cNvPr>
            <p:cNvSpPr/>
            <p:nvPr/>
          </p:nvSpPr>
          <p:spPr>
            <a:xfrm>
              <a:off x="4907946" y="3479100"/>
              <a:ext cx="3168300" cy="1952434"/>
            </a:xfrm>
            <a:custGeom>
              <a:avLst/>
              <a:gdLst>
                <a:gd name="connsiteX0" fmla="*/ 0 w 3168300"/>
                <a:gd name="connsiteY0" fmla="*/ 1952435 h 1952434"/>
                <a:gd name="connsiteX1" fmla="*/ 202121 w 3168300"/>
                <a:gd name="connsiteY1" fmla="*/ 1687068 h 1952434"/>
                <a:gd name="connsiteX2" fmla="*/ 545116 w 3168300"/>
                <a:gd name="connsiteY2" fmla="*/ 1450277 h 1952434"/>
                <a:gd name="connsiteX3" fmla="*/ 906780 w 3168300"/>
                <a:gd name="connsiteY3" fmla="*/ 1354455 h 1952434"/>
                <a:gd name="connsiteX4" fmla="*/ 1332262 w 3168300"/>
                <a:gd name="connsiteY4" fmla="*/ 1285304 h 1952434"/>
                <a:gd name="connsiteX5" fmla="*/ 1691259 w 3168300"/>
                <a:gd name="connsiteY5" fmla="*/ 1240060 h 1952434"/>
                <a:gd name="connsiteX6" fmla="*/ 2010346 w 3168300"/>
                <a:gd name="connsiteY6" fmla="*/ 1141667 h 1952434"/>
                <a:gd name="connsiteX7" fmla="*/ 2393252 w 3168300"/>
                <a:gd name="connsiteY7" fmla="*/ 1027271 h 1952434"/>
                <a:gd name="connsiteX8" fmla="*/ 2582037 w 3168300"/>
                <a:gd name="connsiteY8" fmla="*/ 958120 h 1952434"/>
                <a:gd name="connsiteX9" fmla="*/ 2760155 w 3168300"/>
                <a:gd name="connsiteY9" fmla="*/ 827723 h 1952434"/>
                <a:gd name="connsiteX10" fmla="*/ 2914364 w 3168300"/>
                <a:gd name="connsiteY10" fmla="*/ 567023 h 1952434"/>
                <a:gd name="connsiteX11" fmla="*/ 3168301 w 3168300"/>
                <a:gd name="connsiteY11" fmla="*/ 0 h 19524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168300" h="1952434">
                  <a:moveTo>
                    <a:pt x="0" y="1952435"/>
                  </a:moveTo>
                  <a:cubicBezTo>
                    <a:pt x="0" y="1952435"/>
                    <a:pt x="91059" y="1796415"/>
                    <a:pt x="202121" y="1687068"/>
                  </a:cubicBezTo>
                  <a:cubicBezTo>
                    <a:pt x="301943" y="1588675"/>
                    <a:pt x="416528" y="1505617"/>
                    <a:pt x="545116" y="1450277"/>
                  </a:cubicBezTo>
                  <a:cubicBezTo>
                    <a:pt x="659987" y="1400747"/>
                    <a:pt x="783622" y="1377601"/>
                    <a:pt x="906780" y="1354455"/>
                  </a:cubicBezTo>
                  <a:cubicBezTo>
                    <a:pt x="1048036" y="1327976"/>
                    <a:pt x="1189482" y="1301972"/>
                    <a:pt x="1332262" y="1285304"/>
                  </a:cubicBezTo>
                  <a:cubicBezTo>
                    <a:pt x="1452182" y="1271302"/>
                    <a:pt x="1573340" y="1265873"/>
                    <a:pt x="1691259" y="1240060"/>
                  </a:cubicBezTo>
                  <a:cubicBezTo>
                    <a:pt x="1800035" y="1216247"/>
                    <a:pt x="1904619" y="1176718"/>
                    <a:pt x="2010346" y="1141667"/>
                  </a:cubicBezTo>
                  <a:cubicBezTo>
                    <a:pt x="2136743" y="1099661"/>
                    <a:pt x="2265902" y="1066229"/>
                    <a:pt x="2393252" y="1027271"/>
                  </a:cubicBezTo>
                  <a:cubicBezTo>
                    <a:pt x="2457450" y="1007650"/>
                    <a:pt x="2521744" y="987552"/>
                    <a:pt x="2582037" y="958120"/>
                  </a:cubicBezTo>
                  <a:cubicBezTo>
                    <a:pt x="2648807" y="925449"/>
                    <a:pt x="2710815" y="883349"/>
                    <a:pt x="2760155" y="827723"/>
                  </a:cubicBezTo>
                  <a:cubicBezTo>
                    <a:pt x="2827496" y="751904"/>
                    <a:pt x="2867978" y="657511"/>
                    <a:pt x="2914364" y="567023"/>
                  </a:cubicBezTo>
                  <a:cubicBezTo>
                    <a:pt x="2972753" y="453200"/>
                    <a:pt x="3119152" y="118015"/>
                    <a:pt x="3168301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 sz="1800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AB2AF0F5-7EAA-4BAB-8DE2-D84E124170FA}"/>
                </a:ext>
              </a:extLst>
            </p:cNvPr>
            <p:cNvSpPr/>
            <p:nvPr/>
          </p:nvSpPr>
          <p:spPr>
            <a:xfrm>
              <a:off x="4704778" y="2976752"/>
              <a:ext cx="3356800" cy="2452020"/>
            </a:xfrm>
            <a:custGeom>
              <a:avLst/>
              <a:gdLst>
                <a:gd name="connsiteX0" fmla="*/ 0 w 3356800"/>
                <a:gd name="connsiteY0" fmla="*/ 2452021 h 2452020"/>
                <a:gd name="connsiteX1" fmla="*/ 130874 w 3356800"/>
                <a:gd name="connsiteY1" fmla="*/ 2247710 h 2452020"/>
                <a:gd name="connsiteX2" fmla="*/ 437197 w 3356800"/>
                <a:gd name="connsiteY2" fmla="*/ 1941195 h 2452020"/>
                <a:gd name="connsiteX3" fmla="*/ 737140 w 3356800"/>
                <a:gd name="connsiteY3" fmla="*/ 1736884 h 2452020"/>
                <a:gd name="connsiteX4" fmla="*/ 1031843 w 3356800"/>
                <a:gd name="connsiteY4" fmla="*/ 1685068 h 2452020"/>
                <a:gd name="connsiteX5" fmla="*/ 1287304 w 3356800"/>
                <a:gd name="connsiteY5" fmla="*/ 1655826 h 2452020"/>
                <a:gd name="connsiteX6" fmla="*/ 1471994 w 3356800"/>
                <a:gd name="connsiteY6" fmla="*/ 1634300 h 2452020"/>
                <a:gd name="connsiteX7" fmla="*/ 1898237 w 3356800"/>
                <a:gd name="connsiteY7" fmla="*/ 1512665 h 2452020"/>
                <a:gd name="connsiteX8" fmla="*/ 2229136 w 3356800"/>
                <a:gd name="connsiteY8" fmla="*/ 1355598 h 2452020"/>
                <a:gd name="connsiteX9" fmla="*/ 2512314 w 3356800"/>
                <a:gd name="connsiteY9" fmla="*/ 1238631 h 2452020"/>
                <a:gd name="connsiteX10" fmla="*/ 2758535 w 3356800"/>
                <a:gd name="connsiteY10" fmla="*/ 1096994 h 2452020"/>
                <a:gd name="connsiteX11" fmla="*/ 2935510 w 3356800"/>
                <a:gd name="connsiteY11" fmla="*/ 919925 h 2452020"/>
                <a:gd name="connsiteX12" fmla="*/ 3081719 w 3356800"/>
                <a:gd name="connsiteY12" fmla="*/ 687419 h 2452020"/>
                <a:gd name="connsiteX13" fmla="*/ 3356800 w 3356800"/>
                <a:gd name="connsiteY13" fmla="*/ 0 h 24520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356800" h="2452020">
                  <a:moveTo>
                    <a:pt x="0" y="2452021"/>
                  </a:moveTo>
                  <a:cubicBezTo>
                    <a:pt x="0" y="2452021"/>
                    <a:pt x="57150" y="2344198"/>
                    <a:pt x="130874" y="2247710"/>
                  </a:cubicBezTo>
                  <a:cubicBezTo>
                    <a:pt x="218694" y="2132648"/>
                    <a:pt x="328136" y="2036635"/>
                    <a:pt x="437197" y="1941195"/>
                  </a:cubicBezTo>
                  <a:cubicBezTo>
                    <a:pt x="529304" y="1860709"/>
                    <a:pt x="623030" y="1779556"/>
                    <a:pt x="737140" y="1736884"/>
                  </a:cubicBezTo>
                  <a:cubicBezTo>
                    <a:pt x="830866" y="1701736"/>
                    <a:pt x="932021" y="1695450"/>
                    <a:pt x="1031843" y="1685068"/>
                  </a:cubicBezTo>
                  <a:cubicBezTo>
                    <a:pt x="1117092" y="1676210"/>
                    <a:pt x="1202055" y="1665160"/>
                    <a:pt x="1287304" y="1655826"/>
                  </a:cubicBezTo>
                  <a:cubicBezTo>
                    <a:pt x="1348931" y="1649063"/>
                    <a:pt x="1410653" y="1643539"/>
                    <a:pt x="1471994" y="1634300"/>
                  </a:cubicBezTo>
                  <a:cubicBezTo>
                    <a:pt x="1618679" y="1612011"/>
                    <a:pt x="1761935" y="1571149"/>
                    <a:pt x="1898237" y="1512665"/>
                  </a:cubicBezTo>
                  <a:cubicBezTo>
                    <a:pt x="2010442" y="1464564"/>
                    <a:pt x="2117503" y="1405128"/>
                    <a:pt x="2229136" y="1355598"/>
                  </a:cubicBezTo>
                  <a:cubicBezTo>
                    <a:pt x="2322481" y="1314164"/>
                    <a:pt x="2418969" y="1280160"/>
                    <a:pt x="2512314" y="1238631"/>
                  </a:cubicBezTo>
                  <a:cubicBezTo>
                    <a:pt x="2599087" y="1199960"/>
                    <a:pt x="2683193" y="1154811"/>
                    <a:pt x="2758535" y="1096994"/>
                  </a:cubicBezTo>
                  <a:cubicBezTo>
                    <a:pt x="2825020" y="1046035"/>
                    <a:pt x="2883789" y="985837"/>
                    <a:pt x="2935510" y="919925"/>
                  </a:cubicBezTo>
                  <a:cubicBezTo>
                    <a:pt x="2992184" y="847725"/>
                    <a:pt x="3039904" y="769144"/>
                    <a:pt x="3081719" y="687419"/>
                  </a:cubicBezTo>
                  <a:cubicBezTo>
                    <a:pt x="3138297" y="576739"/>
                    <a:pt x="3314129" y="116776"/>
                    <a:pt x="3356800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 sz="1800"/>
            </a:p>
          </p:txBody>
        </p:sp>
      </p:grp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760C036-BBCE-4F9E-AD56-DD36D4407B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1488" y="649112"/>
            <a:ext cx="5915025" cy="23565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A5D7EC-1E6A-473F-B5A4-18CDFB6CF9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1488" y="3245556"/>
            <a:ext cx="5915025" cy="77357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9981C7-34D5-49A4-949D-715FD4BD8FE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71488" y="11300179"/>
            <a:ext cx="1543050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en-US" sz="900" kern="1200" cap="all" spc="200" smtClean="0">
                <a:solidFill>
                  <a:schemeClr val="accent1"/>
                </a:solidFill>
                <a:latin typeface="+mn-lt"/>
                <a:ea typeface="+mn-ea"/>
                <a:cs typeface="Segoe UI Semilight" panose="020B0402040204020203" pitchFamily="34" charset="0"/>
              </a:defRPr>
            </a:lvl1pPr>
          </a:lstStyle>
          <a:p>
            <a:fld id="{0DAF61AA-5A98-4049-A93E-477E5505141A}" type="datetimeFigureOut">
              <a:rPr lang="en-US" smtClean="0"/>
              <a:pPr/>
              <a:t>9/22/2026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85CE6E-733D-4C60-B40B-C7C10CB5AFB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71713" y="11300179"/>
            <a:ext cx="2314575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900" kern="1200" cap="all" spc="200" dirty="0">
                <a:solidFill>
                  <a:schemeClr val="accent1"/>
                </a:solidFill>
                <a:latin typeface="+mn-lt"/>
                <a:ea typeface="+mn-ea"/>
                <a:cs typeface="Segoe UI Semilight" panose="020B0402040204020203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D80D8B-7909-4114-8EBA-C3086DC62B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572125" y="11300179"/>
            <a:ext cx="814388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en-US" sz="900" kern="1200" cap="all" spc="200" smtClean="0">
                <a:solidFill>
                  <a:schemeClr val="accent1"/>
                </a:solidFill>
                <a:latin typeface="+mn-lt"/>
                <a:ea typeface="+mn-ea"/>
                <a:cs typeface="Segoe UI Semilight" panose="020B0402040204020203" pitchFamily="34" charset="0"/>
              </a:defRPr>
            </a:lvl1pPr>
          </a:lstStyle>
          <a:p>
            <a:fld id="{73B850FF-6169-4056-8077-06FFA93A536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71520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4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Clr>
          <a:schemeClr val="accent5"/>
        </a:buClr>
        <a:buFont typeface="Avenir Next LT Pro" panose="020B0504020202020204" pitchFamily="34" charset="0"/>
        <a:buChar char="+"/>
        <a:defRPr sz="2800" kern="1200">
          <a:solidFill>
            <a:schemeClr val="tx2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Clr>
          <a:schemeClr val="accent5"/>
        </a:buClr>
        <a:buFont typeface="Avenir Next LT Pro" panose="020B0504020202020204" pitchFamily="34" charset="0"/>
        <a:buChar char="+"/>
        <a:defRPr sz="2400" kern="1200">
          <a:solidFill>
            <a:schemeClr val="tx2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Clr>
          <a:schemeClr val="accent5"/>
        </a:buClr>
        <a:buFont typeface="Avenir Next LT Pro" panose="020B0504020202020204" pitchFamily="34" charset="0"/>
        <a:buChar char="+"/>
        <a:defRPr sz="2000" kern="1200">
          <a:solidFill>
            <a:schemeClr val="tx2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Clr>
          <a:schemeClr val="accent5"/>
        </a:buClr>
        <a:buFont typeface="Avenir Next LT Pro" panose="020B0504020202020204" pitchFamily="34" charset="0"/>
        <a:buChar char="+"/>
        <a:defRPr sz="1800" kern="1200">
          <a:solidFill>
            <a:schemeClr val="tx2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Clr>
          <a:schemeClr val="accent5"/>
        </a:buClr>
        <a:buFont typeface="Avenir Next LT Pro" panose="020B0504020202020204" pitchFamily="34" charset="0"/>
        <a:buChar char="+"/>
        <a:defRPr sz="18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39C57A-A402-852A-5A46-980E0F9068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DF910A35-7BFA-EFD1-C33D-01B9AE8E57B2}"/>
              </a:ext>
            </a:extLst>
          </p:cNvPr>
          <p:cNvCxnSpPr>
            <a:cxnSpLocks/>
          </p:cNvCxnSpPr>
          <p:nvPr/>
        </p:nvCxnSpPr>
        <p:spPr>
          <a:xfrm>
            <a:off x="2328474" y="7866868"/>
            <a:ext cx="829611" cy="221176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A67E4938-9453-0E5B-76BE-C5754079A5B6}"/>
              </a:ext>
            </a:extLst>
          </p:cNvPr>
          <p:cNvSpPr/>
          <p:nvPr/>
        </p:nvSpPr>
        <p:spPr>
          <a:xfrm>
            <a:off x="694592" y="618391"/>
            <a:ext cx="5468816" cy="101452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err="1">
                <a:solidFill>
                  <a:sysClr val="windowText" lastClr="000000"/>
                </a:solidFill>
                <a:latin typeface="Abadi" panose="020B0604020104020204" pitchFamily="34" charset="0"/>
              </a:rPr>
              <a:t>SpliceAI</a:t>
            </a:r>
            <a:r>
              <a:rPr lang="en-US" sz="1400" dirty="0">
                <a:solidFill>
                  <a:sysClr val="windowText" lastClr="000000"/>
                </a:solidFill>
                <a:latin typeface="Abadi" panose="020B0604020104020204" pitchFamily="34" charset="0"/>
              </a:rPr>
              <a:t> inferences generated across whole introns and filtered to remove signal below 0.05</a:t>
            </a:r>
          </a:p>
          <a:p>
            <a:pPr algn="ctr"/>
            <a:r>
              <a:rPr lang="en-US" sz="1400" dirty="0">
                <a:solidFill>
                  <a:sysClr val="windowText" lastClr="000000"/>
                </a:solidFill>
                <a:latin typeface="Abadi" panose="020B0604020104020204" pitchFamily="34" charset="0"/>
              </a:rPr>
              <a:t>794,192 splice site inferences</a:t>
            </a:r>
            <a:endParaRPr lang="en-GB" sz="1400" dirty="0">
              <a:solidFill>
                <a:sysClr val="windowText" lastClr="000000"/>
              </a:solidFill>
              <a:latin typeface="Abadi" panose="020B0604020104020204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D876C3A-D43F-1F89-E3EE-3F2017980370}"/>
              </a:ext>
            </a:extLst>
          </p:cNvPr>
          <p:cNvSpPr/>
          <p:nvPr/>
        </p:nvSpPr>
        <p:spPr>
          <a:xfrm>
            <a:off x="694592" y="3756322"/>
            <a:ext cx="5468816" cy="101518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ysClr val="windowText" lastClr="000000"/>
                </a:solidFill>
                <a:latin typeface="Abadi" panose="020B0604020104020204" pitchFamily="34" charset="0"/>
              </a:rPr>
              <a:t>Extract 5’ splice sites from PSI-TABLE to filter loci within +-50 bp of 5’ canonical splice site (192,965 SS coords each)</a:t>
            </a:r>
          </a:p>
          <a:p>
            <a:pPr algn="ctr"/>
            <a:r>
              <a:rPr lang="en-US" sz="1200" dirty="0" err="1">
                <a:solidFill>
                  <a:schemeClr val="accent1"/>
                </a:solidFill>
                <a:latin typeface="Abadi" panose="020B0604020104020204" pitchFamily="34" charset="0"/>
              </a:rPr>
              <a:t>Canonical_splice_sites.bed</a:t>
            </a:r>
            <a:endParaRPr lang="en-US" sz="1200" dirty="0">
              <a:solidFill>
                <a:schemeClr val="accent1"/>
              </a:solidFill>
              <a:latin typeface="Abadi" panose="020B0604020104020204" pitchFamily="34" charset="0"/>
            </a:endParaRPr>
          </a:p>
          <a:p>
            <a:pPr algn="ctr"/>
            <a:r>
              <a:rPr lang="en-US" sz="1200" dirty="0" err="1">
                <a:solidFill>
                  <a:schemeClr val="accent1"/>
                </a:solidFill>
                <a:latin typeface="Abadi" panose="020B0604020104020204" pitchFamily="34" charset="0"/>
              </a:rPr>
              <a:t>Wide_canonical_splice_sites.bed</a:t>
            </a:r>
            <a:endParaRPr lang="en-US" sz="1200" dirty="0">
              <a:solidFill>
                <a:schemeClr val="accent1"/>
              </a:solidFill>
              <a:latin typeface="Abadi" panose="020B0604020104020204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A9376B9-F34D-029B-5D6C-958D73FB227D}"/>
              </a:ext>
            </a:extLst>
          </p:cNvPr>
          <p:cNvSpPr/>
          <p:nvPr/>
        </p:nvSpPr>
        <p:spPr>
          <a:xfrm>
            <a:off x="2127250" y="421541"/>
            <a:ext cx="2603500" cy="393700"/>
          </a:xfrm>
          <a:prstGeom prst="rect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>
                <a:latin typeface="Raleway" pitchFamily="2" charset="0"/>
                <a:cs typeface="Posterama" panose="020B0504020200020000" pitchFamily="34" charset="0"/>
              </a:rPr>
              <a:t>SpliceAI</a:t>
            </a:r>
            <a:endParaRPr lang="en-GB" b="1" dirty="0">
              <a:latin typeface="Raleway" pitchFamily="2" charset="0"/>
              <a:cs typeface="Posterama" panose="020B0504020200020000" pitchFamily="34" charset="0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AF81091-4972-AE75-04E4-AB75D899982E}"/>
              </a:ext>
            </a:extLst>
          </p:cNvPr>
          <p:cNvSpPr/>
          <p:nvPr/>
        </p:nvSpPr>
        <p:spPr>
          <a:xfrm>
            <a:off x="694592" y="2040306"/>
            <a:ext cx="5468816" cy="113029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ysClr val="windowText" lastClr="000000"/>
                </a:solidFill>
                <a:latin typeface="Abadi" panose="020B0604020104020204" pitchFamily="34" charset="0"/>
              </a:rPr>
              <a:t>Using </a:t>
            </a:r>
            <a:r>
              <a:rPr lang="en-US" sz="1400" dirty="0" err="1">
                <a:solidFill>
                  <a:sysClr val="windowText" lastClr="000000"/>
                </a:solidFill>
                <a:latin typeface="Abadi" panose="020B0604020104020204" pitchFamily="34" charset="0"/>
              </a:rPr>
              <a:t>GRanges</a:t>
            </a:r>
            <a:r>
              <a:rPr lang="en-US" sz="1400" dirty="0">
                <a:solidFill>
                  <a:sysClr val="windowText" lastClr="000000"/>
                </a:solidFill>
                <a:latin typeface="Abadi" panose="020B0604020104020204" pitchFamily="34" charset="0"/>
              </a:rPr>
              <a:t>, keep only “</a:t>
            </a:r>
            <a:r>
              <a:rPr lang="en-US" sz="1400" dirty="0" err="1">
                <a:solidFill>
                  <a:sysClr val="windowText" lastClr="000000"/>
                </a:solidFill>
                <a:latin typeface="Abadi" panose="020B0604020104020204" pitchFamily="34" charset="0"/>
              </a:rPr>
              <a:t>protein_coding</a:t>
            </a:r>
            <a:r>
              <a:rPr lang="en-US" sz="1400" dirty="0">
                <a:solidFill>
                  <a:sysClr val="windowText" lastClr="000000"/>
                </a:solidFill>
                <a:latin typeface="Abadi" panose="020B0604020104020204" pitchFamily="34" charset="0"/>
              </a:rPr>
              <a:t>” regions in Gencode.v49.annotation.gtf</a:t>
            </a:r>
          </a:p>
          <a:p>
            <a:pPr algn="ctr"/>
            <a:r>
              <a:rPr lang="en-US" sz="1400" dirty="0">
                <a:solidFill>
                  <a:schemeClr val="accent1"/>
                </a:solidFill>
                <a:latin typeface="Abadi" panose="020B0604020104020204" pitchFamily="34" charset="0"/>
              </a:rPr>
              <a:t>spliceai_05min_proteincoding.bed</a:t>
            </a:r>
          </a:p>
          <a:p>
            <a:pPr algn="ctr"/>
            <a:r>
              <a:rPr lang="en-US" sz="1400" dirty="0">
                <a:solidFill>
                  <a:schemeClr val="tx1"/>
                </a:solidFill>
                <a:latin typeface="Abadi" panose="020B0604020104020204" pitchFamily="34" charset="0"/>
              </a:rPr>
              <a:t>550,282 splice site inferences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F02F80F-8628-CCAE-9433-804866667A25}"/>
              </a:ext>
            </a:extLst>
          </p:cNvPr>
          <p:cNvSpPr/>
          <p:nvPr/>
        </p:nvSpPr>
        <p:spPr>
          <a:xfrm>
            <a:off x="2127250" y="1805356"/>
            <a:ext cx="2603500" cy="393700"/>
          </a:xfrm>
          <a:prstGeom prst="rect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Raleway" pitchFamily="2" charset="0"/>
                <a:cs typeface="Posterama" panose="020B0504020200020000" pitchFamily="34" charset="0"/>
              </a:rPr>
              <a:t>Genomic Ranges</a:t>
            </a:r>
            <a:endParaRPr lang="en-GB" b="1" dirty="0">
              <a:latin typeface="Raleway" pitchFamily="2" charset="0"/>
              <a:cs typeface="Posterama" panose="020B0504020200020000" pitchFamily="34" charset="0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237634D-E3A9-674A-3683-3BFD7D33FE0B}"/>
              </a:ext>
            </a:extLst>
          </p:cNvPr>
          <p:cNvSpPr/>
          <p:nvPr/>
        </p:nvSpPr>
        <p:spPr>
          <a:xfrm>
            <a:off x="114296" y="5361027"/>
            <a:ext cx="6619875" cy="90911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2" rtlCol="0" anchor="ctr"/>
          <a:lstStyle/>
          <a:p>
            <a:pPr algn="ctr"/>
            <a:r>
              <a:rPr lang="en-GB" sz="1100" dirty="0">
                <a:solidFill>
                  <a:sysClr val="windowText" lastClr="000000"/>
                </a:solidFill>
                <a:latin typeface="SimHei" panose="020B0503020204020204" pitchFamily="49" charset="-122"/>
                <a:ea typeface="SimHei" panose="020B0503020204020204" pitchFamily="49" charset="-122"/>
              </a:rPr>
              <a:t>bedtools intersect -v (no overlap) </a:t>
            </a:r>
            <a:r>
              <a:rPr lang="en-GB" sz="1100" dirty="0" err="1">
                <a:solidFill>
                  <a:sysClr val="windowText" lastClr="000000"/>
                </a:solidFill>
                <a:latin typeface="SimHei" panose="020B0503020204020204" pitchFamily="49" charset="-122"/>
                <a:ea typeface="SimHei" panose="020B0503020204020204" pitchFamily="49" charset="-122"/>
              </a:rPr>
              <a:t>Wide_canonical_splice_sites.bed</a:t>
            </a:r>
            <a:br>
              <a:rPr lang="en-GB" sz="1100" dirty="0">
                <a:solidFill>
                  <a:sysClr val="windowText" lastClr="000000"/>
                </a:solidFill>
                <a:latin typeface="SimHei" panose="020B0503020204020204" pitchFamily="49" charset="-122"/>
                <a:ea typeface="SimHei" panose="020B0503020204020204" pitchFamily="49" charset="-122"/>
              </a:rPr>
            </a:br>
            <a:r>
              <a:rPr lang="en-GB" sz="1100" dirty="0">
                <a:solidFill>
                  <a:sysClr val="windowText" lastClr="000000"/>
                </a:solidFill>
                <a:latin typeface="SimHei" panose="020B0503020204020204" pitchFamily="49" charset="-122"/>
                <a:ea typeface="SimHei" panose="020B0503020204020204" pitchFamily="49" charset="-122"/>
              </a:rPr>
              <a:t>== </a:t>
            </a:r>
            <a:r>
              <a:rPr lang="en-GB" sz="1100" dirty="0" err="1">
                <a:solidFill>
                  <a:schemeClr val="accent1"/>
                </a:solidFill>
                <a:latin typeface="SimHei" panose="020B0503020204020204" pitchFamily="49" charset="-122"/>
                <a:ea typeface="SimHei" panose="020B0503020204020204" pitchFamily="49" charset="-122"/>
              </a:rPr>
              <a:t>deep_intronic_sites.bed</a:t>
            </a:r>
            <a:endParaRPr lang="en-GB" sz="1100" dirty="0">
              <a:solidFill>
                <a:schemeClr val="accent1"/>
              </a:solidFill>
              <a:latin typeface="SimHei" panose="020B0503020204020204" pitchFamily="49" charset="-122"/>
              <a:ea typeface="SimHei" panose="020B0503020204020204" pitchFamily="49" charset="-122"/>
            </a:endParaRPr>
          </a:p>
          <a:p>
            <a:pPr algn="ctr"/>
            <a:r>
              <a:rPr lang="en-US" sz="1100" dirty="0">
                <a:solidFill>
                  <a:sysClr val="windowText" lastClr="000000"/>
                </a:solidFill>
                <a:latin typeface="Abadi" panose="020B0604020104020204" pitchFamily="34" charset="0"/>
              </a:rPr>
              <a:t>367,089 splice site inferences</a:t>
            </a:r>
            <a:endParaRPr lang="en-GB" sz="1100" dirty="0">
              <a:solidFill>
                <a:schemeClr val="tx1"/>
              </a:solidFill>
              <a:latin typeface="SimHei" panose="020B0503020204020204" pitchFamily="49" charset="-122"/>
              <a:ea typeface="SimHei" panose="020B0503020204020204" pitchFamily="49" charset="-122"/>
            </a:endParaRPr>
          </a:p>
          <a:p>
            <a:pPr algn="ctr"/>
            <a:r>
              <a:rPr lang="en-GB" sz="1100" dirty="0">
                <a:solidFill>
                  <a:sysClr val="windowText" lastClr="000000"/>
                </a:solidFill>
                <a:latin typeface="SimHei" panose="020B0503020204020204" pitchFamily="49" charset="-122"/>
                <a:ea typeface="SimHei" panose="020B0503020204020204" pitchFamily="49" charset="-122"/>
              </a:rPr>
              <a:t>bedtools intersect -c (does overlap) </a:t>
            </a:r>
            <a:r>
              <a:rPr lang="en-GB" sz="1100" dirty="0" err="1">
                <a:solidFill>
                  <a:sysClr val="windowText" lastClr="000000"/>
                </a:solidFill>
                <a:latin typeface="SimHei" panose="020B0503020204020204" pitchFamily="49" charset="-122"/>
                <a:ea typeface="SimHei" panose="020B0503020204020204" pitchFamily="49" charset="-122"/>
              </a:rPr>
              <a:t>Wide_canonical_splice_sites.bed</a:t>
            </a:r>
            <a:br>
              <a:rPr lang="en-GB" sz="1100" dirty="0">
                <a:solidFill>
                  <a:sysClr val="windowText" lastClr="000000"/>
                </a:solidFill>
                <a:latin typeface="SimHei" panose="020B0503020204020204" pitchFamily="49" charset="-122"/>
                <a:ea typeface="SimHei" panose="020B0503020204020204" pitchFamily="49" charset="-122"/>
              </a:rPr>
            </a:br>
            <a:r>
              <a:rPr lang="en-GB" sz="1100" dirty="0">
                <a:solidFill>
                  <a:sysClr val="windowText" lastClr="000000"/>
                </a:solidFill>
                <a:latin typeface="SimHei" panose="020B0503020204020204" pitchFamily="49" charset="-122"/>
                <a:ea typeface="SimHei" panose="020B0503020204020204" pitchFamily="49" charset="-122"/>
              </a:rPr>
              <a:t>== </a:t>
            </a:r>
            <a:r>
              <a:rPr lang="en-GB" sz="1100" dirty="0" err="1">
                <a:solidFill>
                  <a:schemeClr val="accent1"/>
                </a:solidFill>
                <a:latin typeface="SimHei" panose="020B0503020204020204" pitchFamily="49" charset="-122"/>
                <a:ea typeface="SimHei" panose="020B0503020204020204" pitchFamily="49" charset="-122"/>
              </a:rPr>
              <a:t>exonic.bed</a:t>
            </a:r>
            <a:endParaRPr lang="en-GB" sz="1100" dirty="0">
              <a:solidFill>
                <a:schemeClr val="accent1"/>
              </a:solidFill>
              <a:latin typeface="SimHei" panose="020B0503020204020204" pitchFamily="49" charset="-122"/>
              <a:ea typeface="SimHei" panose="020B0503020204020204" pitchFamily="49" charset="-122"/>
            </a:endParaRPr>
          </a:p>
          <a:p>
            <a:pPr algn="ctr"/>
            <a:r>
              <a:rPr lang="en-US" sz="1100" dirty="0">
                <a:solidFill>
                  <a:sysClr val="windowText" lastClr="000000"/>
                </a:solidFill>
                <a:latin typeface="Abadi" panose="020B0604020104020204" pitchFamily="34" charset="0"/>
              </a:rPr>
              <a:t>183,193 splice site inferences</a:t>
            </a:r>
            <a:endParaRPr lang="en-GB" sz="1100" dirty="0">
              <a:solidFill>
                <a:sysClr val="windowText" lastClr="000000"/>
              </a:solidFill>
              <a:latin typeface="Abadi" panose="020B0604020104020204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E967661-85DE-107A-4B1B-CFB488F451C2}"/>
              </a:ext>
            </a:extLst>
          </p:cNvPr>
          <p:cNvSpPr/>
          <p:nvPr/>
        </p:nvSpPr>
        <p:spPr>
          <a:xfrm>
            <a:off x="2127250" y="5007358"/>
            <a:ext cx="2603500" cy="393700"/>
          </a:xfrm>
          <a:prstGeom prst="rect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Raleway" pitchFamily="2" charset="0"/>
                <a:cs typeface="Posterama" panose="020B0504020200020000" pitchFamily="34" charset="0"/>
              </a:rPr>
              <a:t>Bedtools intersect</a:t>
            </a:r>
            <a:endParaRPr lang="en-GB" b="1" dirty="0">
              <a:latin typeface="Raleway" pitchFamily="2" charset="0"/>
              <a:cs typeface="Posterama" panose="020B0504020200020000" pitchFamily="34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851F035-A026-80BA-A628-1C81C6EB44B3}"/>
              </a:ext>
            </a:extLst>
          </p:cNvPr>
          <p:cNvSpPr/>
          <p:nvPr/>
        </p:nvSpPr>
        <p:spPr>
          <a:xfrm>
            <a:off x="1847053" y="3419614"/>
            <a:ext cx="3154360" cy="393700"/>
          </a:xfrm>
          <a:prstGeom prst="rect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Raleway" pitchFamily="2" charset="0"/>
                <a:cs typeface="Posterama" panose="020B0504020200020000" pitchFamily="34" charset="0"/>
              </a:rPr>
              <a:t>VAST-DB MAIN-PSI-TABLE</a:t>
            </a:r>
            <a:endParaRPr lang="en-GB" b="1" dirty="0">
              <a:latin typeface="Raleway" pitchFamily="2" charset="0"/>
              <a:cs typeface="Posterama" panose="020B0504020200020000" pitchFamily="34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530B05C-C3AA-27AC-7761-A14BF84794E5}"/>
              </a:ext>
            </a:extLst>
          </p:cNvPr>
          <p:cNvSpPr/>
          <p:nvPr/>
        </p:nvSpPr>
        <p:spPr>
          <a:xfrm>
            <a:off x="192410" y="6583419"/>
            <a:ext cx="6473179" cy="128344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2"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Abadi" panose="020B0604020104020204" pitchFamily="34" charset="0"/>
              </a:rPr>
              <a:t>Intersect </a:t>
            </a:r>
            <a:r>
              <a:rPr lang="en-US" sz="1200" dirty="0" err="1">
                <a:solidFill>
                  <a:schemeClr val="tx1"/>
                </a:solidFill>
                <a:latin typeface="Abadi" panose="020B0604020104020204" pitchFamily="34" charset="0"/>
              </a:rPr>
              <a:t>deep_intronic_sites.bed</a:t>
            </a:r>
            <a:r>
              <a:rPr lang="en-US" sz="1200" dirty="0">
                <a:solidFill>
                  <a:schemeClr val="tx1"/>
                </a:solidFill>
                <a:latin typeface="Abadi" panose="020B0604020104020204" pitchFamily="34" charset="0"/>
              </a:rPr>
              <a:t> </a:t>
            </a:r>
            <a:br>
              <a:rPr lang="en-US" sz="1200" dirty="0">
                <a:solidFill>
                  <a:schemeClr val="accent1"/>
                </a:solidFill>
                <a:latin typeface="Abadi" panose="020B0604020104020204" pitchFamily="34" charset="0"/>
              </a:rPr>
            </a:br>
            <a:r>
              <a:rPr lang="en-US" sz="1200" dirty="0" err="1">
                <a:solidFill>
                  <a:schemeClr val="accent1"/>
                </a:solidFill>
                <a:latin typeface="Abadi" panose="020B0604020104020204" pitchFamily="34" charset="0"/>
              </a:rPr>
              <a:t>RBPnet</a:t>
            </a:r>
            <a:r>
              <a:rPr lang="en-US" sz="1200" dirty="0">
                <a:solidFill>
                  <a:schemeClr val="accent1"/>
                </a:solidFill>
                <a:latin typeface="Abadi" panose="020B0604020104020204" pitchFamily="34" charset="0"/>
              </a:rPr>
              <a:t> PRPF8 predictions </a:t>
            </a:r>
          </a:p>
          <a:p>
            <a:pPr algn="ctr"/>
            <a:r>
              <a:rPr lang="en-US" sz="1200" dirty="0">
                <a:solidFill>
                  <a:schemeClr val="tx1"/>
                </a:solidFill>
                <a:latin typeface="Abadi" panose="020B0604020104020204" pitchFamily="34" charset="0"/>
              </a:rPr>
              <a:t>and/or </a:t>
            </a:r>
            <a:r>
              <a:rPr lang="en-US" sz="1200" dirty="0">
                <a:solidFill>
                  <a:schemeClr val="accent1"/>
                </a:solidFill>
                <a:latin typeface="Abadi" panose="020B0604020104020204" pitchFamily="34" charset="0"/>
              </a:rPr>
              <a:t>PRPF8 Peaks </a:t>
            </a:r>
          </a:p>
          <a:p>
            <a:pPr algn="ctr"/>
            <a:r>
              <a:rPr lang="en-US" sz="1200" dirty="0">
                <a:solidFill>
                  <a:schemeClr val="tx1"/>
                </a:solidFill>
                <a:latin typeface="Abadi" panose="020B0604020104020204" pitchFamily="34" charset="0"/>
              </a:rPr>
              <a:t>and/or </a:t>
            </a:r>
            <a:r>
              <a:rPr lang="en-US" sz="1200" dirty="0" err="1">
                <a:solidFill>
                  <a:schemeClr val="accent1"/>
                </a:solidFill>
                <a:latin typeface="Abadi" panose="020B0604020104020204" pitchFamily="34" charset="0"/>
              </a:rPr>
              <a:t>SmB</a:t>
            </a:r>
            <a:r>
              <a:rPr lang="en-US" sz="1200" dirty="0">
                <a:solidFill>
                  <a:schemeClr val="accent1"/>
                </a:solidFill>
                <a:latin typeface="Abadi" panose="020B0604020104020204" pitchFamily="34" charset="0"/>
              </a:rPr>
              <a:t> Peaks</a:t>
            </a:r>
          </a:p>
          <a:p>
            <a:pPr algn="ctr"/>
            <a:r>
              <a:rPr lang="en-US" sz="1200" dirty="0">
                <a:solidFill>
                  <a:schemeClr val="tx1"/>
                </a:solidFill>
                <a:latin typeface="Abadi" panose="020B0604020104020204" pitchFamily="34" charset="0"/>
              </a:rPr>
              <a:t>== </a:t>
            </a:r>
            <a:r>
              <a:rPr lang="en-US" sz="1200" dirty="0" err="1">
                <a:solidFill>
                  <a:schemeClr val="tx1"/>
                </a:solidFill>
                <a:latin typeface="Abadi" panose="020B0604020104020204" pitchFamily="34" charset="0"/>
              </a:rPr>
              <a:t>decoys.bed</a:t>
            </a:r>
            <a:r>
              <a:rPr lang="en-US" sz="1200" dirty="0">
                <a:solidFill>
                  <a:schemeClr val="tx1"/>
                </a:solidFill>
                <a:latin typeface="Abadi" panose="020B0604020104020204" pitchFamily="34" charset="0"/>
              </a:rPr>
              <a:t> </a:t>
            </a:r>
          </a:p>
          <a:p>
            <a:pPr algn="ctr"/>
            <a:r>
              <a:rPr lang="en-US" sz="1200" dirty="0">
                <a:solidFill>
                  <a:schemeClr val="tx1"/>
                </a:solidFill>
                <a:latin typeface="Abadi" panose="020B0604020104020204" pitchFamily="34" charset="0"/>
              </a:rPr>
              <a:t>19,942 decoy sites</a:t>
            </a:r>
          </a:p>
          <a:p>
            <a:pPr algn="ctr"/>
            <a:r>
              <a:rPr lang="en-US" sz="1200" dirty="0">
                <a:solidFill>
                  <a:schemeClr val="tx1"/>
                </a:solidFill>
                <a:latin typeface="Abadi" panose="020B0604020104020204" pitchFamily="34" charset="0"/>
              </a:rPr>
              <a:t>Intersect </a:t>
            </a:r>
            <a:r>
              <a:rPr lang="en-US" sz="1200" dirty="0" err="1">
                <a:solidFill>
                  <a:schemeClr val="tx1"/>
                </a:solidFill>
                <a:latin typeface="Abadi" panose="020B0604020104020204" pitchFamily="34" charset="0"/>
              </a:rPr>
              <a:t>deep_intronic_sites.bed</a:t>
            </a:r>
            <a:br>
              <a:rPr lang="en-US" sz="1200" dirty="0">
                <a:solidFill>
                  <a:schemeClr val="tx1"/>
                </a:solidFill>
                <a:latin typeface="Abadi" panose="020B0604020104020204" pitchFamily="34" charset="0"/>
              </a:rPr>
            </a:br>
            <a:r>
              <a:rPr lang="en-US" sz="1200" dirty="0">
                <a:solidFill>
                  <a:schemeClr val="tx1"/>
                </a:solidFill>
                <a:latin typeface="Abadi" panose="020B0604020104020204" pitchFamily="34" charset="0"/>
              </a:rPr>
              <a:t>None of </a:t>
            </a:r>
            <a:r>
              <a:rPr lang="en-US" sz="1200" dirty="0" err="1">
                <a:solidFill>
                  <a:schemeClr val="accent1"/>
                </a:solidFill>
                <a:latin typeface="Abadi" panose="020B0604020104020204" pitchFamily="34" charset="0"/>
              </a:rPr>
              <a:t>RBPnet</a:t>
            </a:r>
            <a:r>
              <a:rPr lang="en-US" sz="1200" dirty="0">
                <a:solidFill>
                  <a:schemeClr val="accent1"/>
                </a:solidFill>
                <a:latin typeface="Abadi" panose="020B0604020104020204" pitchFamily="34" charset="0"/>
              </a:rPr>
              <a:t> PRPF8 predictions </a:t>
            </a:r>
          </a:p>
          <a:p>
            <a:pPr algn="ctr"/>
            <a:r>
              <a:rPr lang="en-US" sz="1200" dirty="0">
                <a:solidFill>
                  <a:schemeClr val="tx1"/>
                </a:solidFill>
                <a:latin typeface="Abadi" panose="020B0604020104020204" pitchFamily="34" charset="0"/>
              </a:rPr>
              <a:t>or </a:t>
            </a:r>
            <a:r>
              <a:rPr lang="en-US" sz="1200" dirty="0">
                <a:solidFill>
                  <a:schemeClr val="accent1"/>
                </a:solidFill>
                <a:latin typeface="Abadi" panose="020B0604020104020204" pitchFamily="34" charset="0"/>
              </a:rPr>
              <a:t>PRPF8 Peaks </a:t>
            </a:r>
          </a:p>
          <a:p>
            <a:pPr algn="ctr"/>
            <a:r>
              <a:rPr lang="en-US" sz="1200" dirty="0">
                <a:solidFill>
                  <a:schemeClr val="tx1"/>
                </a:solidFill>
                <a:latin typeface="Abadi" panose="020B0604020104020204" pitchFamily="34" charset="0"/>
              </a:rPr>
              <a:t>or </a:t>
            </a:r>
            <a:r>
              <a:rPr lang="en-US" sz="1200" dirty="0" err="1">
                <a:solidFill>
                  <a:schemeClr val="accent1"/>
                </a:solidFill>
                <a:latin typeface="Abadi" panose="020B0604020104020204" pitchFamily="34" charset="0"/>
              </a:rPr>
              <a:t>SmB</a:t>
            </a:r>
            <a:r>
              <a:rPr lang="en-US" sz="1200" dirty="0">
                <a:solidFill>
                  <a:schemeClr val="accent1"/>
                </a:solidFill>
                <a:latin typeface="Abadi" panose="020B0604020104020204" pitchFamily="34" charset="0"/>
              </a:rPr>
              <a:t> Peaks</a:t>
            </a:r>
          </a:p>
          <a:p>
            <a:pPr algn="ctr"/>
            <a:r>
              <a:rPr lang="en-US" sz="1200" dirty="0">
                <a:solidFill>
                  <a:schemeClr val="tx1"/>
                </a:solidFill>
                <a:latin typeface="Abadi" panose="020B0604020104020204" pitchFamily="34" charset="0"/>
              </a:rPr>
              <a:t>== </a:t>
            </a:r>
            <a:r>
              <a:rPr lang="en-US" sz="1200" dirty="0" err="1">
                <a:solidFill>
                  <a:schemeClr val="tx1"/>
                </a:solidFill>
                <a:latin typeface="Abadi" panose="020B0604020104020204" pitchFamily="34" charset="0"/>
              </a:rPr>
              <a:t>cryptic_sites.bed</a:t>
            </a:r>
            <a:br>
              <a:rPr lang="en-US" sz="1200" dirty="0">
                <a:solidFill>
                  <a:schemeClr val="tx1"/>
                </a:solidFill>
                <a:latin typeface="Abadi" panose="020B0604020104020204" pitchFamily="34" charset="0"/>
              </a:rPr>
            </a:br>
            <a:r>
              <a:rPr lang="en-US" sz="1200" dirty="0">
                <a:solidFill>
                  <a:schemeClr val="tx1"/>
                </a:solidFill>
                <a:latin typeface="Abadi" panose="020B0604020104020204" pitchFamily="34" charset="0"/>
              </a:rPr>
              <a:t>267,309 splice sites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A0F3A86D-8144-E379-7458-D6A9C0EC011D}"/>
              </a:ext>
            </a:extLst>
          </p:cNvPr>
          <p:cNvSpPr/>
          <p:nvPr/>
        </p:nvSpPr>
        <p:spPr>
          <a:xfrm>
            <a:off x="1057103" y="8043538"/>
            <a:ext cx="5256572" cy="168834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1"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Abadi" panose="020B0604020104020204" pitchFamily="34" charset="0"/>
              </a:rPr>
              <a:t>Intersect </a:t>
            </a:r>
            <a:r>
              <a:rPr lang="en-US" sz="1200" dirty="0" err="1">
                <a:solidFill>
                  <a:schemeClr val="tx1"/>
                </a:solidFill>
                <a:latin typeface="Abadi" panose="020B0604020104020204" pitchFamily="34" charset="0"/>
              </a:rPr>
              <a:t>Canonical_splice_sites.bed</a:t>
            </a:r>
            <a:endParaRPr lang="en-US" sz="1200" dirty="0">
              <a:solidFill>
                <a:schemeClr val="tx1"/>
              </a:solidFill>
              <a:latin typeface="Abadi" panose="020B0604020104020204" pitchFamily="34" charset="0"/>
            </a:endParaRPr>
          </a:p>
          <a:p>
            <a:pPr algn="ctr"/>
            <a:r>
              <a:rPr lang="en-US" sz="1200" dirty="0" err="1">
                <a:solidFill>
                  <a:schemeClr val="accent1"/>
                </a:solidFill>
                <a:latin typeface="Abadi" panose="020B0604020104020204" pitchFamily="34" charset="0"/>
              </a:rPr>
              <a:t>RBPnet</a:t>
            </a:r>
            <a:r>
              <a:rPr lang="en-US" sz="1200" dirty="0">
                <a:solidFill>
                  <a:schemeClr val="accent1"/>
                </a:solidFill>
                <a:latin typeface="Abadi" panose="020B0604020104020204" pitchFamily="34" charset="0"/>
              </a:rPr>
              <a:t> PRPF8 predictions </a:t>
            </a:r>
            <a:r>
              <a:rPr lang="en-US" sz="1200" dirty="0">
                <a:solidFill>
                  <a:schemeClr val="tx1"/>
                </a:solidFill>
                <a:latin typeface="Abadi" panose="020B0604020104020204" pitchFamily="34" charset="0"/>
              </a:rPr>
              <a:t>and/or </a:t>
            </a:r>
            <a:r>
              <a:rPr lang="en-US" sz="1200" dirty="0">
                <a:solidFill>
                  <a:schemeClr val="accent1"/>
                </a:solidFill>
                <a:latin typeface="Abadi" panose="020B0604020104020204" pitchFamily="34" charset="0"/>
              </a:rPr>
              <a:t>PRPF8 Peaks </a:t>
            </a:r>
            <a:r>
              <a:rPr lang="en-US" sz="1200" dirty="0">
                <a:solidFill>
                  <a:schemeClr val="tx1"/>
                </a:solidFill>
                <a:latin typeface="Abadi" panose="020B0604020104020204" pitchFamily="34" charset="0"/>
              </a:rPr>
              <a:t>and/or </a:t>
            </a:r>
            <a:r>
              <a:rPr lang="en-US" sz="1200" dirty="0" err="1">
                <a:solidFill>
                  <a:schemeClr val="accent1"/>
                </a:solidFill>
                <a:latin typeface="Abadi" panose="020B0604020104020204" pitchFamily="34" charset="0"/>
              </a:rPr>
              <a:t>SmB</a:t>
            </a:r>
            <a:r>
              <a:rPr lang="en-US" sz="1200" dirty="0">
                <a:solidFill>
                  <a:schemeClr val="accent1"/>
                </a:solidFill>
                <a:latin typeface="Abadi" panose="020B0604020104020204" pitchFamily="34" charset="0"/>
              </a:rPr>
              <a:t> Peaks</a:t>
            </a:r>
          </a:p>
          <a:p>
            <a:pPr algn="ctr"/>
            <a:r>
              <a:rPr lang="en-US" sz="1200" dirty="0">
                <a:solidFill>
                  <a:schemeClr val="tx1"/>
                </a:solidFill>
                <a:latin typeface="Abadi" panose="020B0604020104020204" pitchFamily="34" charset="0"/>
              </a:rPr>
              <a:t>==</a:t>
            </a:r>
            <a:r>
              <a:rPr lang="en-US" sz="1200" dirty="0">
                <a:solidFill>
                  <a:schemeClr val="accent1"/>
                </a:solidFill>
                <a:latin typeface="Abadi" panose="020B0604020104020204" pitchFamily="34" charset="0"/>
              </a:rPr>
              <a:t> </a:t>
            </a:r>
            <a:r>
              <a:rPr lang="en-US" sz="1200" dirty="0" err="1">
                <a:solidFill>
                  <a:schemeClr val="accent1"/>
                </a:solidFill>
                <a:latin typeface="Abadi" panose="020B0604020104020204" pitchFamily="34" charset="0"/>
              </a:rPr>
              <a:t>canonical_supported_sites.bed</a:t>
            </a:r>
            <a:endParaRPr lang="en-US" sz="1200" dirty="0">
              <a:solidFill>
                <a:schemeClr val="accent1"/>
              </a:solidFill>
              <a:latin typeface="Abadi" panose="020B0604020104020204" pitchFamily="34" charset="0"/>
            </a:endParaRPr>
          </a:p>
          <a:p>
            <a:pPr algn="ctr"/>
            <a:br>
              <a:rPr lang="en-US" sz="1200" dirty="0">
                <a:solidFill>
                  <a:schemeClr val="tx1"/>
                </a:solidFill>
                <a:latin typeface="Abadi" panose="020B0604020104020204" pitchFamily="34" charset="0"/>
              </a:rPr>
            </a:br>
            <a:r>
              <a:rPr lang="en-US" sz="1200" dirty="0">
                <a:solidFill>
                  <a:schemeClr val="tx1"/>
                </a:solidFill>
                <a:latin typeface="Abadi" panose="020B0604020104020204" pitchFamily="34" charset="0"/>
              </a:rPr>
              <a:t>Build overlap with introns and </a:t>
            </a:r>
            <a:r>
              <a:rPr lang="en-US" sz="1200" dirty="0" err="1">
                <a:solidFill>
                  <a:schemeClr val="tx1"/>
                </a:solidFill>
                <a:latin typeface="Abadi" panose="020B0604020104020204" pitchFamily="34" charset="0"/>
              </a:rPr>
              <a:t>GRanges</a:t>
            </a:r>
            <a:r>
              <a:rPr lang="en-US" sz="1200" dirty="0">
                <a:solidFill>
                  <a:schemeClr val="tx1"/>
                </a:solidFill>
                <a:latin typeface="Abadi" panose="020B0604020104020204" pitchFamily="34" charset="0"/>
              </a:rPr>
              <a:t> for </a:t>
            </a:r>
            <a:r>
              <a:rPr lang="en-US" sz="1200" dirty="0" err="1">
                <a:solidFill>
                  <a:schemeClr val="tx1"/>
                </a:solidFill>
                <a:latin typeface="Abadi" panose="020B0604020104020204" pitchFamily="34" charset="0"/>
              </a:rPr>
              <a:t>cryptic_sites.bed</a:t>
            </a:r>
            <a:r>
              <a:rPr lang="en-US" sz="1200" dirty="0">
                <a:solidFill>
                  <a:schemeClr val="tx1"/>
                </a:solidFill>
                <a:latin typeface="Abadi" panose="020B0604020104020204" pitchFamily="34" charset="0"/>
              </a:rPr>
              <a:t> </a:t>
            </a:r>
            <a:br>
              <a:rPr lang="en-US" sz="1200" dirty="0">
                <a:solidFill>
                  <a:schemeClr val="accent1"/>
                </a:solidFill>
                <a:latin typeface="Abadi" panose="020B0604020104020204" pitchFamily="34" charset="0"/>
              </a:rPr>
            </a:br>
            <a:r>
              <a:rPr lang="en-US" sz="1200" dirty="0">
                <a:solidFill>
                  <a:schemeClr val="tx1">
                    <a:lumMod val="95000"/>
                    <a:lumOff val="5000"/>
                  </a:schemeClr>
                </a:solidFill>
                <a:latin typeface="Abadi" panose="020B0604020104020204" pitchFamily="34" charset="0"/>
              </a:rPr>
              <a:t>with</a:t>
            </a:r>
            <a:r>
              <a:rPr lang="en-US" sz="1200" dirty="0">
                <a:solidFill>
                  <a:schemeClr val="accent1"/>
                </a:solidFill>
                <a:latin typeface="Abadi" panose="020B0604020104020204" pitchFamily="34" charset="0"/>
              </a:rPr>
              <a:t> </a:t>
            </a:r>
            <a:r>
              <a:rPr lang="en-US" sz="1200" dirty="0" err="1">
                <a:solidFill>
                  <a:schemeClr val="accent1"/>
                </a:solidFill>
                <a:latin typeface="Abadi" panose="020B0604020104020204" pitchFamily="34" charset="0"/>
              </a:rPr>
              <a:t>canonical_supported_sites.bed</a:t>
            </a:r>
            <a:endParaRPr lang="en-US" sz="1200" dirty="0">
              <a:solidFill>
                <a:schemeClr val="accent1"/>
              </a:solidFill>
              <a:latin typeface="Abadi" panose="020B0604020104020204" pitchFamily="34" charset="0"/>
            </a:endParaRPr>
          </a:p>
          <a:p>
            <a:pPr algn="ctr"/>
            <a:r>
              <a:rPr lang="en-US" sz="1200" dirty="0">
                <a:solidFill>
                  <a:schemeClr val="accent1"/>
                </a:solidFill>
                <a:latin typeface="Abadi" panose="020B0604020104020204" pitchFamily="34" charset="0"/>
              </a:rPr>
              <a:t>== </a:t>
            </a:r>
            <a:r>
              <a:rPr lang="en-US" sz="1200" dirty="0" err="1">
                <a:solidFill>
                  <a:schemeClr val="accent1"/>
                </a:solidFill>
                <a:latin typeface="Abadi" panose="020B0604020104020204" pitchFamily="34" charset="0"/>
              </a:rPr>
              <a:t>cryptics_supported.bed</a:t>
            </a:r>
            <a:endParaRPr lang="en-US" sz="1200" dirty="0">
              <a:solidFill>
                <a:schemeClr val="accent1"/>
              </a:solidFill>
              <a:latin typeface="Abadi" panose="020B0604020104020204" pitchFamily="34" charset="0"/>
            </a:endParaRPr>
          </a:p>
          <a:p>
            <a:pPr algn="ctr"/>
            <a:r>
              <a:rPr lang="en-US" sz="1200" dirty="0">
                <a:solidFill>
                  <a:schemeClr val="tx1"/>
                </a:solidFill>
                <a:latin typeface="Abadi" panose="020B0604020104020204" pitchFamily="34" charset="0"/>
              </a:rPr>
              <a:t>191,904 splice sites</a:t>
            </a:r>
            <a:endParaRPr lang="en-US" sz="1200" dirty="0">
              <a:solidFill>
                <a:schemeClr val="accent1"/>
              </a:solidFill>
              <a:latin typeface="Abadi" panose="020B0604020104020204" pitchFamily="34" charset="0"/>
            </a:endParaRP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9EAE3BA6-02A6-6E1B-5136-D377E5FEE4E4}"/>
              </a:ext>
            </a:extLst>
          </p:cNvPr>
          <p:cNvCxnSpPr>
            <a:cxnSpLocks/>
          </p:cNvCxnSpPr>
          <p:nvPr/>
        </p:nvCxnSpPr>
        <p:spPr>
          <a:xfrm>
            <a:off x="2717800" y="6270146"/>
            <a:ext cx="125138" cy="37396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24971D70-9CC5-6605-0360-4DB1C48DE14B}"/>
              </a:ext>
            </a:extLst>
          </p:cNvPr>
          <p:cNvSpPr/>
          <p:nvPr/>
        </p:nvSpPr>
        <p:spPr>
          <a:xfrm>
            <a:off x="192411" y="10394835"/>
            <a:ext cx="2284090" cy="160666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numCol="1"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Abadi" panose="020B0604020104020204" pitchFamily="34" charset="0"/>
              </a:rPr>
              <a:t>TWO FINAL DATASETS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1200" dirty="0">
                <a:solidFill>
                  <a:schemeClr val="tx1"/>
                </a:solidFill>
                <a:latin typeface="Abadi" panose="020B0604020104020204" pitchFamily="34" charset="0"/>
              </a:rPr>
              <a:t>Loci Feature Table</a:t>
            </a:r>
          </a:p>
          <a:p>
            <a:pPr lvl="1"/>
            <a:r>
              <a:rPr lang="en-US" sz="1200" dirty="0" err="1">
                <a:solidFill>
                  <a:schemeClr val="tx1"/>
                </a:solidFill>
                <a:latin typeface="Abadi" panose="020B0604020104020204" pitchFamily="34" charset="0"/>
              </a:rPr>
              <a:t>Decoys.bed</a:t>
            </a:r>
            <a:endParaRPr lang="en-US" sz="1200" dirty="0">
              <a:solidFill>
                <a:schemeClr val="tx1"/>
              </a:solidFill>
              <a:latin typeface="Abadi" panose="020B0604020104020204" pitchFamily="34" charset="0"/>
            </a:endParaRPr>
          </a:p>
          <a:p>
            <a:pPr lvl="1"/>
            <a:r>
              <a:rPr lang="en-US" sz="1200" dirty="0" err="1">
                <a:solidFill>
                  <a:schemeClr val="tx1"/>
                </a:solidFill>
                <a:latin typeface="Abadi" panose="020B0604020104020204" pitchFamily="34" charset="0"/>
              </a:rPr>
              <a:t>Cryptics_supported.bed</a:t>
            </a:r>
            <a:endParaRPr lang="en-US" sz="1200" dirty="0">
              <a:solidFill>
                <a:schemeClr val="tx1"/>
              </a:solidFill>
              <a:latin typeface="Abadi" panose="020B0604020104020204" pitchFamily="34" charset="0"/>
            </a:endParaRPr>
          </a:p>
          <a:p>
            <a:pPr marL="228600" indent="-228600">
              <a:buFont typeface="+mj-lt"/>
              <a:buAutoNum type="arabicPeriod"/>
            </a:pPr>
            <a:r>
              <a:rPr lang="en-US" sz="1200" dirty="0">
                <a:solidFill>
                  <a:schemeClr val="tx1"/>
                </a:solidFill>
                <a:latin typeface="Abadi" panose="020B0604020104020204" pitchFamily="34" charset="0"/>
              </a:rPr>
              <a:t>Retained Introns Table</a:t>
            </a:r>
          </a:p>
          <a:p>
            <a:pPr lvl="1"/>
            <a:r>
              <a:rPr lang="en-US" sz="1200" dirty="0">
                <a:solidFill>
                  <a:schemeClr val="tx1"/>
                </a:solidFill>
                <a:latin typeface="Abadi" panose="020B0604020104020204" pitchFamily="34" charset="0"/>
              </a:rPr>
              <a:t>Subgroups (has decoy, has cryptic, neither, both)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0F7206D1-0EC6-54BF-D154-927586F64BFB}"/>
              </a:ext>
            </a:extLst>
          </p:cNvPr>
          <p:cNvSpPr/>
          <p:nvPr/>
        </p:nvSpPr>
        <p:spPr>
          <a:xfrm>
            <a:off x="624292" y="10066340"/>
            <a:ext cx="1272301" cy="393700"/>
          </a:xfrm>
          <a:prstGeom prst="rect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Raleway" pitchFamily="2" charset="0"/>
                <a:cs typeface="Posterama" panose="020B0504020200020000" pitchFamily="34" charset="0"/>
              </a:rPr>
              <a:t>Result</a:t>
            </a:r>
            <a:endParaRPr lang="en-GB" b="1" dirty="0">
              <a:latin typeface="Raleway" pitchFamily="2" charset="0"/>
              <a:cs typeface="Posterama" panose="020B0504020200020000" pitchFamily="34" charset="0"/>
            </a:endParaRP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0C68BD2A-0DF7-1037-C351-2694BC72F616}"/>
              </a:ext>
            </a:extLst>
          </p:cNvPr>
          <p:cNvCxnSpPr>
            <a:cxnSpLocks/>
          </p:cNvCxnSpPr>
          <p:nvPr/>
        </p:nvCxnSpPr>
        <p:spPr>
          <a:xfrm flipH="1">
            <a:off x="2373243" y="11341834"/>
            <a:ext cx="689114" cy="9103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03F19691-C573-725D-5058-D25769502FB7}"/>
              </a:ext>
            </a:extLst>
          </p:cNvPr>
          <p:cNvCxnSpPr>
            <a:cxnSpLocks/>
          </p:cNvCxnSpPr>
          <p:nvPr/>
        </p:nvCxnSpPr>
        <p:spPr>
          <a:xfrm flipH="1">
            <a:off x="5709285" y="7862014"/>
            <a:ext cx="454123" cy="104716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8FD840B3-0833-6599-1CDA-16C7AE8F42FA}"/>
              </a:ext>
            </a:extLst>
          </p:cNvPr>
          <p:cNvCxnSpPr>
            <a:cxnSpLocks/>
          </p:cNvCxnSpPr>
          <p:nvPr/>
        </p:nvCxnSpPr>
        <p:spPr>
          <a:xfrm>
            <a:off x="2717800" y="6270146"/>
            <a:ext cx="1808480" cy="353669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C5FEDBBF-5393-D218-FC43-C104DCAF2975}"/>
              </a:ext>
            </a:extLst>
          </p:cNvPr>
          <p:cNvSpPr/>
          <p:nvPr/>
        </p:nvSpPr>
        <p:spPr>
          <a:xfrm>
            <a:off x="2842938" y="10151695"/>
            <a:ext cx="3822651" cy="195402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ysClr val="windowText" lastClr="000000"/>
                </a:solidFill>
                <a:latin typeface="Abadi" panose="020B0604020104020204" pitchFamily="34" charset="0"/>
              </a:rPr>
              <a:t>Pull FASTA using BED coordinates with SpliceAI_Inference.py to re-score inferences over ±24nt window surrounding the loci, &gt; 0.1 Donor Score</a:t>
            </a:r>
          </a:p>
          <a:p>
            <a:pPr algn="ctr"/>
            <a:r>
              <a:rPr lang="en-US" sz="1200" dirty="0">
                <a:solidFill>
                  <a:sysClr val="windowText" lastClr="000000"/>
                </a:solidFill>
                <a:latin typeface="Abadi" panose="020B0604020104020204" pitchFamily="34" charset="0"/>
              </a:rPr>
              <a:t>7,021 Predicted Decoy Sites </a:t>
            </a:r>
          </a:p>
          <a:p>
            <a:pPr algn="ctr"/>
            <a:r>
              <a:rPr lang="en-US" sz="1200" dirty="0">
                <a:solidFill>
                  <a:sysClr val="windowText" lastClr="000000"/>
                </a:solidFill>
                <a:latin typeface="Abadi" panose="020B0604020104020204" pitchFamily="34" charset="0"/>
              </a:rPr>
              <a:t>18,808 Predicted Cryptic Sites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endParaRPr lang="en-US" sz="1200" dirty="0">
              <a:solidFill>
                <a:sysClr val="windowText" lastClr="000000"/>
              </a:solidFill>
              <a:latin typeface="Abadi" panose="020B0604020104020204" pitchFamily="34" charset="0"/>
            </a:endParaRPr>
          </a:p>
          <a:p>
            <a:pPr algn="ctr"/>
            <a:r>
              <a:rPr lang="en-US" sz="1200" dirty="0">
                <a:solidFill>
                  <a:schemeClr val="tx1"/>
                </a:solidFill>
                <a:latin typeface="Abadi" panose="020B0604020104020204" pitchFamily="34" charset="0"/>
              </a:rPr>
              <a:t>Finally</a:t>
            </a:r>
            <a:r>
              <a:rPr lang="en-US" sz="1200" dirty="0">
                <a:solidFill>
                  <a:schemeClr val="accent1"/>
                </a:solidFill>
                <a:latin typeface="Abadi" panose="020B0604020104020204" pitchFamily="34" charset="0"/>
              </a:rPr>
              <a:t> </a:t>
            </a:r>
            <a:r>
              <a:rPr lang="en-US" sz="1200" dirty="0">
                <a:solidFill>
                  <a:schemeClr val="tx1"/>
                </a:solidFill>
                <a:latin typeface="Abadi" panose="020B0604020104020204" pitchFamily="34" charset="0"/>
              </a:rPr>
              <a:t>overlap to remove alternative 5’SS (VAST-DB PSI-TABLE) from both</a:t>
            </a:r>
          </a:p>
          <a:p>
            <a:pPr algn="ctr"/>
            <a:r>
              <a:rPr lang="en-US" sz="1200" dirty="0">
                <a:solidFill>
                  <a:schemeClr val="tx1"/>
                </a:solidFill>
                <a:latin typeface="Abadi" panose="020B0604020104020204" pitchFamily="34" charset="0"/>
              </a:rPr>
              <a:t>Decoys kept 6,506 /  </a:t>
            </a:r>
            <a:r>
              <a:rPr lang="en-US" sz="1200" dirty="0" err="1">
                <a:solidFill>
                  <a:schemeClr val="tx1"/>
                </a:solidFill>
                <a:latin typeface="Abadi" panose="020B0604020104020204" pitchFamily="34" charset="0"/>
              </a:rPr>
              <a:t>Cryptics</a:t>
            </a:r>
            <a:r>
              <a:rPr lang="en-US" sz="1200" dirty="0">
                <a:solidFill>
                  <a:schemeClr val="tx1"/>
                </a:solidFill>
                <a:latin typeface="Abadi" panose="020B0604020104020204" pitchFamily="34" charset="0"/>
              </a:rPr>
              <a:t> kept 17,721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75A2A3E-627D-B882-477F-0B33901699FE}"/>
              </a:ext>
            </a:extLst>
          </p:cNvPr>
          <p:cNvSpPr/>
          <p:nvPr/>
        </p:nvSpPr>
        <p:spPr>
          <a:xfrm>
            <a:off x="3685389" y="9838422"/>
            <a:ext cx="2090721" cy="397108"/>
          </a:xfrm>
          <a:prstGeom prst="rect">
            <a:avLst/>
          </a:prstGeom>
          <a:ln w="19050"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Raleway" pitchFamily="2" charset="0"/>
                <a:cs typeface="Posterama" panose="020B0504020200020000" pitchFamily="34" charset="0"/>
              </a:rPr>
              <a:t>Rescore locus</a:t>
            </a:r>
            <a:endParaRPr lang="en-GB" b="1" dirty="0">
              <a:latin typeface="Raleway" pitchFamily="2" charset="0"/>
              <a:cs typeface="Posterama" panose="020B0504020200020000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90564789"/>
      </p:ext>
    </p:extLst>
  </p:cSld>
  <p:clrMapOvr>
    <a:masterClrMapping/>
  </p:clrMapOvr>
</p:sld>
</file>

<file path=ppt/theme/theme1.xml><?xml version="1.0" encoding="utf-8"?>
<a:theme xmlns:a="http://schemas.openxmlformats.org/drawingml/2006/main" name="ExploreVTI">
  <a:themeElements>
    <a:clrScheme name="Custom 33">
      <a:dk1>
        <a:sysClr val="windowText" lastClr="000000"/>
      </a:dk1>
      <a:lt1>
        <a:sysClr val="window" lastClr="FFFFFF"/>
      </a:lt1>
      <a:dk2>
        <a:srgbClr val="201449"/>
      </a:dk2>
      <a:lt2>
        <a:srgbClr val="F3F0E9"/>
      </a:lt2>
      <a:accent1>
        <a:srgbClr val="E45221"/>
      </a:accent1>
      <a:accent2>
        <a:srgbClr val="4D4EE6"/>
      </a:accent2>
      <a:accent3>
        <a:srgbClr val="454B78"/>
      </a:accent3>
      <a:accent4>
        <a:srgbClr val="A3A3C1"/>
      </a:accent4>
      <a:accent5>
        <a:srgbClr val="7162FE"/>
      </a:accent5>
      <a:accent6>
        <a:srgbClr val="1EBE9B"/>
      </a:accent6>
      <a:hlink>
        <a:srgbClr val="F900A0"/>
      </a:hlink>
      <a:folHlink>
        <a:srgbClr val="954F72"/>
      </a:folHlink>
    </a:clrScheme>
    <a:fontScheme name="Custom 23">
      <a:majorFont>
        <a:latin typeface="Posterama"/>
        <a:ea typeface=""/>
        <a:cs typeface=""/>
      </a:majorFont>
      <a:minorFont>
        <a:latin typeface="Avenir Next L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ExploreVTI" id="{157DDAE2-BFCD-43FD-9602-E5EFEAD66DC3}" vid="{04B6EBF8-4645-4305-9753-050B4204785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Explore</Template>
  <TotalTime>1467</TotalTime>
  <Words>356</Words>
  <Application>Microsoft Office PowerPoint</Application>
  <PresentationFormat>Widescreen</PresentationFormat>
  <Paragraphs>45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9" baseType="lpstr">
      <vt:lpstr>SimHei</vt:lpstr>
      <vt:lpstr>Abadi</vt:lpstr>
      <vt:lpstr>Arial</vt:lpstr>
      <vt:lpstr>Avenir Next LT Pro</vt:lpstr>
      <vt:lpstr>AvenirNext LT Pro Medium</vt:lpstr>
      <vt:lpstr>Posterama</vt:lpstr>
      <vt:lpstr>Raleway</vt:lpstr>
      <vt:lpstr>ExploreVTI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Michael Jones</dc:creator>
  <cp:lastModifiedBy>Michael Jones</cp:lastModifiedBy>
  <cp:revision>27</cp:revision>
  <dcterms:created xsi:type="dcterms:W3CDTF">2026-08-11T10:51:43Z</dcterms:created>
  <dcterms:modified xsi:type="dcterms:W3CDTF">2026-09-22T19:28:26Z</dcterms:modified>
</cp:coreProperties>
</file>