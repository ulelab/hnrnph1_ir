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</p:sldIdLst>
  <p:sldSz cx="6858000" cy="121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4660"/>
  </p:normalViewPr>
  <p:slideViewPr>
    <p:cSldViewPr snapToGrid="0">
      <p:cViewPr>
        <p:scale>
          <a:sx n="100" d="100"/>
          <a:sy n="100" d="100"/>
        </p:scale>
        <p:origin x="72" y="-30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9/29/2026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85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4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94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52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649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8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174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22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44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708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55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6856286" cy="12192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389725" y="-5485"/>
            <a:ext cx="745937" cy="1062405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5872082" y="10972801"/>
            <a:ext cx="833682" cy="1207756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rPr>
              <a:t>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4487261" y="9239428"/>
            <a:ext cx="2369025" cy="295257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6103" y="26983"/>
            <a:ext cx="1236910" cy="5922229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4843462" y="5825067"/>
            <a:ext cx="1985209" cy="6366932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9/29/2026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72125" y="11300179"/>
            <a:ext cx="814388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52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9C57A-A402-852A-5A46-980E0F906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F910A35-7BFA-EFD1-C33D-01B9AE8E57B2}"/>
              </a:ext>
            </a:extLst>
          </p:cNvPr>
          <p:cNvCxnSpPr>
            <a:cxnSpLocks/>
          </p:cNvCxnSpPr>
          <p:nvPr/>
        </p:nvCxnSpPr>
        <p:spPr>
          <a:xfrm>
            <a:off x="2328474" y="7866868"/>
            <a:ext cx="829611" cy="22117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A67E4938-9453-0E5B-76BE-C5754079A5B6}"/>
              </a:ext>
            </a:extLst>
          </p:cNvPr>
          <p:cNvSpPr/>
          <p:nvPr/>
        </p:nvSpPr>
        <p:spPr>
          <a:xfrm>
            <a:off x="694592" y="618391"/>
            <a:ext cx="5468816" cy="10145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ysClr val="windowText" lastClr="000000"/>
                </a:solidFill>
                <a:latin typeface="Abadi" panose="020B0604020104020204" pitchFamily="34" charset="0"/>
              </a:rPr>
              <a:t>SpliceAI</a:t>
            </a:r>
            <a:r>
              <a:rPr lang="en-US" sz="1400" dirty="0">
                <a:solidFill>
                  <a:sysClr val="windowText" lastClr="000000"/>
                </a:solidFill>
                <a:latin typeface="Abadi" panose="020B0604020104020204" pitchFamily="34" charset="0"/>
              </a:rPr>
              <a:t> inferences generated across whole introns and filtered to remove signal below 0.05</a:t>
            </a:r>
          </a:p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Abadi" panose="020B0604020104020204" pitchFamily="34" charset="0"/>
              </a:rPr>
              <a:t>794,192 splice site inferences</a:t>
            </a:r>
            <a:endParaRPr lang="en-GB" sz="1400" dirty="0">
              <a:solidFill>
                <a:sysClr val="windowText" lastClr="000000"/>
              </a:solidFill>
              <a:latin typeface="Abadi" panose="020B0604020104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876C3A-D43F-1F89-E3EE-3F2017980370}"/>
              </a:ext>
            </a:extLst>
          </p:cNvPr>
          <p:cNvSpPr/>
          <p:nvPr/>
        </p:nvSpPr>
        <p:spPr>
          <a:xfrm>
            <a:off x="694592" y="3756322"/>
            <a:ext cx="5468816" cy="10151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Abadi" panose="020B0604020104020204" pitchFamily="34" charset="0"/>
              </a:rPr>
              <a:t>Extract 5’ splice sites from PSI-TABLE to filter loci within +-50 bp of 5’ canonical splice site (192,965 SS coords each)</a:t>
            </a:r>
          </a:p>
          <a:p>
            <a:pPr algn="ctr"/>
            <a:r>
              <a:rPr lang="en-US" sz="1200" dirty="0" err="1">
                <a:solidFill>
                  <a:schemeClr val="accent1"/>
                </a:solidFill>
                <a:latin typeface="Abadi" panose="020B0604020104020204" pitchFamily="34" charset="0"/>
              </a:rPr>
              <a:t>Canonical_splice_sites.bed</a:t>
            </a:r>
            <a:endParaRPr lang="en-US" sz="1200" dirty="0">
              <a:solidFill>
                <a:schemeClr val="accent1"/>
              </a:solidFill>
              <a:latin typeface="Abadi" panose="020B0604020104020204" pitchFamily="34" charset="0"/>
            </a:endParaRPr>
          </a:p>
          <a:p>
            <a:pPr algn="ctr"/>
            <a:r>
              <a:rPr lang="en-US" sz="1200" dirty="0" err="1">
                <a:solidFill>
                  <a:schemeClr val="accent1"/>
                </a:solidFill>
                <a:latin typeface="Abadi" panose="020B0604020104020204" pitchFamily="34" charset="0"/>
              </a:rPr>
              <a:t>Wide_canonical_splice_sites.bed</a:t>
            </a:r>
            <a:endParaRPr lang="en-US" sz="1200" dirty="0">
              <a:solidFill>
                <a:schemeClr val="accent1"/>
              </a:solidFill>
              <a:latin typeface="Abadi" panose="020B0604020104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9376B9-F34D-029B-5D6C-958D73FB227D}"/>
              </a:ext>
            </a:extLst>
          </p:cNvPr>
          <p:cNvSpPr/>
          <p:nvPr/>
        </p:nvSpPr>
        <p:spPr>
          <a:xfrm>
            <a:off x="2127250" y="421541"/>
            <a:ext cx="2603500" cy="39370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Raleway" pitchFamily="2" charset="0"/>
                <a:cs typeface="Posterama" panose="020B0504020200020000" pitchFamily="34" charset="0"/>
              </a:rPr>
              <a:t>SpliceAI</a:t>
            </a:r>
            <a:endParaRPr lang="en-GB" b="1" dirty="0">
              <a:latin typeface="Raleway" pitchFamily="2" charset="0"/>
              <a:cs typeface="Posterama" panose="020B0504020200020000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F81091-4972-AE75-04E4-AB75D899982E}"/>
              </a:ext>
            </a:extLst>
          </p:cNvPr>
          <p:cNvSpPr/>
          <p:nvPr/>
        </p:nvSpPr>
        <p:spPr>
          <a:xfrm>
            <a:off x="694592" y="2040306"/>
            <a:ext cx="5468816" cy="11302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Abadi" panose="020B0604020104020204" pitchFamily="34" charset="0"/>
              </a:rPr>
              <a:t>Using </a:t>
            </a:r>
            <a:r>
              <a:rPr lang="en-US" sz="1400" dirty="0" err="1">
                <a:solidFill>
                  <a:sysClr val="windowText" lastClr="000000"/>
                </a:solidFill>
                <a:latin typeface="Abadi" panose="020B0604020104020204" pitchFamily="34" charset="0"/>
              </a:rPr>
              <a:t>GRanges</a:t>
            </a:r>
            <a:r>
              <a:rPr lang="en-US" sz="1400" dirty="0">
                <a:solidFill>
                  <a:sysClr val="windowText" lastClr="000000"/>
                </a:solidFill>
                <a:latin typeface="Abadi" panose="020B0604020104020204" pitchFamily="34" charset="0"/>
              </a:rPr>
              <a:t>, keep only “</a:t>
            </a:r>
            <a:r>
              <a:rPr lang="en-US" sz="1400" dirty="0" err="1">
                <a:solidFill>
                  <a:sysClr val="windowText" lastClr="000000"/>
                </a:solidFill>
                <a:latin typeface="Abadi" panose="020B0604020104020204" pitchFamily="34" charset="0"/>
              </a:rPr>
              <a:t>protein_coding</a:t>
            </a:r>
            <a:r>
              <a:rPr lang="en-US" sz="1400" dirty="0">
                <a:solidFill>
                  <a:sysClr val="windowText" lastClr="000000"/>
                </a:solidFill>
                <a:latin typeface="Abadi" panose="020B0604020104020204" pitchFamily="34" charset="0"/>
              </a:rPr>
              <a:t>” regions in Gencode.v49.annotation.gtf</a:t>
            </a:r>
          </a:p>
          <a:p>
            <a:pPr algn="ctr"/>
            <a:r>
              <a:rPr lang="en-US" sz="1400" dirty="0">
                <a:solidFill>
                  <a:schemeClr val="accent1"/>
                </a:solidFill>
                <a:latin typeface="Abadi" panose="020B0604020104020204" pitchFamily="34" charset="0"/>
              </a:rPr>
              <a:t>spliceai_05min_proteincoding.bed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badi" panose="020B0604020104020204" pitchFamily="34" charset="0"/>
              </a:rPr>
              <a:t>550,282 splice site inferences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02F80F-8628-CCAE-9433-804866667A25}"/>
              </a:ext>
            </a:extLst>
          </p:cNvPr>
          <p:cNvSpPr/>
          <p:nvPr/>
        </p:nvSpPr>
        <p:spPr>
          <a:xfrm>
            <a:off x="2127250" y="1805356"/>
            <a:ext cx="2603500" cy="39370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Raleway" pitchFamily="2" charset="0"/>
                <a:cs typeface="Posterama" panose="020B0504020200020000" pitchFamily="34" charset="0"/>
              </a:rPr>
              <a:t>Genomic Ranges</a:t>
            </a:r>
            <a:endParaRPr lang="en-GB" b="1" dirty="0">
              <a:latin typeface="Raleway" pitchFamily="2" charset="0"/>
              <a:cs typeface="Posterama" panose="020B0504020200020000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37634D-E3A9-674A-3683-3BFD7D33FE0B}"/>
              </a:ext>
            </a:extLst>
          </p:cNvPr>
          <p:cNvSpPr/>
          <p:nvPr/>
        </p:nvSpPr>
        <p:spPr>
          <a:xfrm>
            <a:off x="114296" y="5361027"/>
            <a:ext cx="6619875" cy="9091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ctr"/>
            <a:r>
              <a:rPr lang="en-GB" sz="1100" dirty="0">
                <a:solidFill>
                  <a:sysClr val="windowText" lastClr="000000"/>
                </a:solidFill>
                <a:latin typeface="SimHei" panose="020B0503020204020204" pitchFamily="49" charset="-122"/>
                <a:ea typeface="SimHei" panose="020B0503020204020204" pitchFamily="49" charset="-122"/>
              </a:rPr>
              <a:t>bedtools intersect -v (no overlap) </a:t>
            </a:r>
            <a:r>
              <a:rPr lang="en-GB" sz="1100" dirty="0" err="1">
                <a:solidFill>
                  <a:sysClr val="windowText" lastClr="000000"/>
                </a:solidFill>
                <a:latin typeface="SimHei" panose="020B0503020204020204" pitchFamily="49" charset="-122"/>
                <a:ea typeface="SimHei" panose="020B0503020204020204" pitchFamily="49" charset="-122"/>
              </a:rPr>
              <a:t>Wide_canonical_splice_sites.bed</a:t>
            </a:r>
            <a:br>
              <a:rPr lang="en-GB" sz="1100" dirty="0">
                <a:solidFill>
                  <a:sysClr val="windowText" lastClr="000000"/>
                </a:solidFill>
                <a:latin typeface="SimHei" panose="020B0503020204020204" pitchFamily="49" charset="-122"/>
                <a:ea typeface="SimHei" panose="020B0503020204020204" pitchFamily="49" charset="-122"/>
              </a:rPr>
            </a:br>
            <a:r>
              <a:rPr lang="en-GB" sz="1100" dirty="0">
                <a:solidFill>
                  <a:sysClr val="windowText" lastClr="000000"/>
                </a:solidFill>
                <a:latin typeface="SimHei" panose="020B0503020204020204" pitchFamily="49" charset="-122"/>
                <a:ea typeface="SimHei" panose="020B0503020204020204" pitchFamily="49" charset="-122"/>
              </a:rPr>
              <a:t>== </a:t>
            </a:r>
            <a:r>
              <a:rPr lang="en-GB" sz="1100" dirty="0" err="1">
                <a:solidFill>
                  <a:schemeClr val="accent1"/>
                </a:solidFill>
                <a:latin typeface="SimHei" panose="020B0503020204020204" pitchFamily="49" charset="-122"/>
                <a:ea typeface="SimHei" panose="020B0503020204020204" pitchFamily="49" charset="-122"/>
              </a:rPr>
              <a:t>deep_intronic_sites.bed</a:t>
            </a:r>
            <a:endParaRPr lang="en-GB" sz="1100" dirty="0">
              <a:solidFill>
                <a:schemeClr val="accent1"/>
              </a:solidFill>
              <a:latin typeface="SimHei" panose="020B0503020204020204" pitchFamily="49" charset="-122"/>
              <a:ea typeface="SimHei" panose="020B0503020204020204" pitchFamily="49" charset="-122"/>
            </a:endParaRPr>
          </a:p>
          <a:p>
            <a:pPr algn="ctr"/>
            <a:r>
              <a:rPr lang="en-US" sz="1100" dirty="0">
                <a:solidFill>
                  <a:sysClr val="windowText" lastClr="000000"/>
                </a:solidFill>
                <a:latin typeface="Abadi" panose="020B0604020104020204" pitchFamily="34" charset="0"/>
              </a:rPr>
              <a:t>367,089 splice site inferences</a:t>
            </a:r>
            <a:endParaRPr lang="en-GB" sz="1100" dirty="0">
              <a:solidFill>
                <a:schemeClr val="tx1"/>
              </a:solidFill>
              <a:latin typeface="SimHei" panose="020B0503020204020204" pitchFamily="49" charset="-122"/>
              <a:ea typeface="SimHei" panose="020B0503020204020204" pitchFamily="49" charset="-122"/>
            </a:endParaRPr>
          </a:p>
          <a:p>
            <a:pPr algn="ctr"/>
            <a:r>
              <a:rPr lang="en-GB" sz="1100" dirty="0">
                <a:solidFill>
                  <a:sysClr val="windowText" lastClr="000000"/>
                </a:solidFill>
                <a:latin typeface="SimHei" panose="020B0503020204020204" pitchFamily="49" charset="-122"/>
                <a:ea typeface="SimHei" panose="020B0503020204020204" pitchFamily="49" charset="-122"/>
              </a:rPr>
              <a:t>bedtools intersect -c (does overlap) </a:t>
            </a:r>
            <a:r>
              <a:rPr lang="en-GB" sz="1100" dirty="0" err="1">
                <a:solidFill>
                  <a:sysClr val="windowText" lastClr="000000"/>
                </a:solidFill>
                <a:latin typeface="SimHei" panose="020B0503020204020204" pitchFamily="49" charset="-122"/>
                <a:ea typeface="SimHei" panose="020B0503020204020204" pitchFamily="49" charset="-122"/>
              </a:rPr>
              <a:t>Wide_canonical_splice_sites.bed</a:t>
            </a:r>
            <a:br>
              <a:rPr lang="en-GB" sz="1100" dirty="0">
                <a:solidFill>
                  <a:sysClr val="windowText" lastClr="000000"/>
                </a:solidFill>
                <a:latin typeface="SimHei" panose="020B0503020204020204" pitchFamily="49" charset="-122"/>
                <a:ea typeface="SimHei" panose="020B0503020204020204" pitchFamily="49" charset="-122"/>
              </a:rPr>
            </a:br>
            <a:r>
              <a:rPr lang="en-GB" sz="1100" dirty="0">
                <a:solidFill>
                  <a:sysClr val="windowText" lastClr="000000"/>
                </a:solidFill>
                <a:latin typeface="SimHei" panose="020B0503020204020204" pitchFamily="49" charset="-122"/>
                <a:ea typeface="SimHei" panose="020B0503020204020204" pitchFamily="49" charset="-122"/>
              </a:rPr>
              <a:t>== </a:t>
            </a:r>
            <a:r>
              <a:rPr lang="en-GB" sz="1100" dirty="0" err="1">
                <a:solidFill>
                  <a:schemeClr val="accent1"/>
                </a:solidFill>
                <a:latin typeface="SimHei" panose="020B0503020204020204" pitchFamily="49" charset="-122"/>
                <a:ea typeface="SimHei" panose="020B0503020204020204" pitchFamily="49" charset="-122"/>
              </a:rPr>
              <a:t>exonic.bed</a:t>
            </a:r>
            <a:endParaRPr lang="en-GB" sz="1100" dirty="0">
              <a:solidFill>
                <a:schemeClr val="accent1"/>
              </a:solidFill>
              <a:latin typeface="SimHei" panose="020B0503020204020204" pitchFamily="49" charset="-122"/>
              <a:ea typeface="SimHei" panose="020B0503020204020204" pitchFamily="49" charset="-122"/>
            </a:endParaRPr>
          </a:p>
          <a:p>
            <a:pPr algn="ctr"/>
            <a:r>
              <a:rPr lang="en-US" sz="1100" dirty="0">
                <a:solidFill>
                  <a:sysClr val="windowText" lastClr="000000"/>
                </a:solidFill>
                <a:latin typeface="Abadi" panose="020B0604020104020204" pitchFamily="34" charset="0"/>
              </a:rPr>
              <a:t>183,193 splice site inferences</a:t>
            </a:r>
            <a:endParaRPr lang="en-GB" sz="1100" dirty="0">
              <a:solidFill>
                <a:sysClr val="windowText" lastClr="000000"/>
              </a:solidFill>
              <a:latin typeface="Abadi" panose="020B0604020104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967661-85DE-107A-4B1B-CFB488F451C2}"/>
              </a:ext>
            </a:extLst>
          </p:cNvPr>
          <p:cNvSpPr/>
          <p:nvPr/>
        </p:nvSpPr>
        <p:spPr>
          <a:xfrm>
            <a:off x="2127250" y="5007358"/>
            <a:ext cx="2603500" cy="39370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Raleway" pitchFamily="2" charset="0"/>
                <a:cs typeface="Posterama" panose="020B0504020200020000" pitchFamily="34" charset="0"/>
              </a:rPr>
              <a:t>Bedtools intersect</a:t>
            </a:r>
            <a:endParaRPr lang="en-GB" b="1" dirty="0">
              <a:latin typeface="Raleway" pitchFamily="2" charset="0"/>
              <a:cs typeface="Posterama" panose="020B0504020200020000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51F035-A026-80BA-A628-1C81C6EB44B3}"/>
              </a:ext>
            </a:extLst>
          </p:cNvPr>
          <p:cNvSpPr/>
          <p:nvPr/>
        </p:nvSpPr>
        <p:spPr>
          <a:xfrm>
            <a:off x="1847053" y="3419614"/>
            <a:ext cx="3154360" cy="39370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Raleway" pitchFamily="2" charset="0"/>
                <a:cs typeface="Posterama" panose="020B0504020200020000" pitchFamily="34" charset="0"/>
              </a:rPr>
              <a:t>VAST-DB MAIN-PSI-TABLE</a:t>
            </a:r>
            <a:endParaRPr lang="en-GB" b="1" dirty="0">
              <a:latin typeface="Raleway" pitchFamily="2" charset="0"/>
              <a:cs typeface="Posterama" panose="020B0504020200020000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530B05C-C3AA-27AC-7761-A14BF84794E5}"/>
              </a:ext>
            </a:extLst>
          </p:cNvPr>
          <p:cNvSpPr/>
          <p:nvPr/>
        </p:nvSpPr>
        <p:spPr>
          <a:xfrm>
            <a:off x="192410" y="6583419"/>
            <a:ext cx="6473179" cy="128344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Intersect </a:t>
            </a:r>
            <a:r>
              <a:rPr lang="en-US" sz="1200" dirty="0" err="1">
                <a:solidFill>
                  <a:schemeClr val="tx1"/>
                </a:solidFill>
                <a:latin typeface="Abadi" panose="020B0604020104020204" pitchFamily="34" charset="0"/>
              </a:rPr>
              <a:t>deep_intronic_sites.bed</a:t>
            </a:r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 </a:t>
            </a:r>
            <a:br>
              <a:rPr lang="en-US" sz="1200" dirty="0">
                <a:solidFill>
                  <a:schemeClr val="accent1"/>
                </a:solidFill>
                <a:latin typeface="Abadi" panose="020B0604020104020204" pitchFamily="34" charset="0"/>
              </a:rPr>
            </a:br>
            <a:r>
              <a:rPr lang="en-US" sz="1200" dirty="0" err="1">
                <a:solidFill>
                  <a:schemeClr val="accent1"/>
                </a:solidFill>
                <a:latin typeface="Abadi" panose="020B0604020104020204" pitchFamily="34" charset="0"/>
              </a:rPr>
              <a:t>RBPnet</a:t>
            </a:r>
            <a:r>
              <a:rPr lang="en-US" sz="1200" dirty="0">
                <a:solidFill>
                  <a:schemeClr val="accent1"/>
                </a:solidFill>
                <a:latin typeface="Abadi" panose="020B0604020104020204" pitchFamily="34" charset="0"/>
              </a:rPr>
              <a:t> PRPF8 predictions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and/or </a:t>
            </a:r>
            <a:r>
              <a:rPr lang="en-US" sz="1200" dirty="0">
                <a:solidFill>
                  <a:schemeClr val="accent1"/>
                </a:solidFill>
                <a:latin typeface="Abadi" panose="020B0604020104020204" pitchFamily="34" charset="0"/>
              </a:rPr>
              <a:t>PRPF8 Peaks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and/or </a:t>
            </a:r>
            <a:r>
              <a:rPr lang="en-US" sz="1200" dirty="0" err="1">
                <a:solidFill>
                  <a:schemeClr val="accent1"/>
                </a:solidFill>
                <a:latin typeface="Abadi" panose="020B0604020104020204" pitchFamily="34" charset="0"/>
              </a:rPr>
              <a:t>SmB</a:t>
            </a:r>
            <a:r>
              <a:rPr lang="en-US" sz="1200" dirty="0">
                <a:solidFill>
                  <a:schemeClr val="accent1"/>
                </a:solidFill>
                <a:latin typeface="Abadi" panose="020B0604020104020204" pitchFamily="34" charset="0"/>
              </a:rPr>
              <a:t> Peaks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== </a:t>
            </a:r>
            <a:r>
              <a:rPr lang="en-US" sz="1200" dirty="0" err="1">
                <a:solidFill>
                  <a:schemeClr val="tx1"/>
                </a:solidFill>
                <a:latin typeface="Abadi" panose="020B0604020104020204" pitchFamily="34" charset="0"/>
              </a:rPr>
              <a:t>decoys.bed</a:t>
            </a:r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19,942 decoy sites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Intersect </a:t>
            </a:r>
            <a:r>
              <a:rPr lang="en-US" sz="1200" dirty="0" err="1">
                <a:solidFill>
                  <a:schemeClr val="tx1"/>
                </a:solidFill>
                <a:latin typeface="Abadi" panose="020B0604020104020204" pitchFamily="34" charset="0"/>
              </a:rPr>
              <a:t>deep_intronic_sites.bed</a:t>
            </a:r>
            <a:b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</a:br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None of </a:t>
            </a:r>
            <a:r>
              <a:rPr lang="en-US" sz="1200" dirty="0" err="1">
                <a:solidFill>
                  <a:schemeClr val="accent1"/>
                </a:solidFill>
                <a:latin typeface="Abadi" panose="020B0604020104020204" pitchFamily="34" charset="0"/>
              </a:rPr>
              <a:t>RBPnet</a:t>
            </a:r>
            <a:r>
              <a:rPr lang="en-US" sz="1200" dirty="0">
                <a:solidFill>
                  <a:schemeClr val="accent1"/>
                </a:solidFill>
                <a:latin typeface="Abadi" panose="020B0604020104020204" pitchFamily="34" charset="0"/>
              </a:rPr>
              <a:t> PRPF8 predictions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or </a:t>
            </a:r>
            <a:r>
              <a:rPr lang="en-US" sz="1200" dirty="0">
                <a:solidFill>
                  <a:schemeClr val="accent1"/>
                </a:solidFill>
                <a:latin typeface="Abadi" panose="020B0604020104020204" pitchFamily="34" charset="0"/>
              </a:rPr>
              <a:t>PRPF8 Peaks 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or </a:t>
            </a:r>
            <a:r>
              <a:rPr lang="en-US" sz="1200" dirty="0" err="1">
                <a:solidFill>
                  <a:schemeClr val="accent1"/>
                </a:solidFill>
                <a:latin typeface="Abadi" panose="020B0604020104020204" pitchFamily="34" charset="0"/>
              </a:rPr>
              <a:t>SmB</a:t>
            </a:r>
            <a:r>
              <a:rPr lang="en-US" sz="1200" dirty="0">
                <a:solidFill>
                  <a:schemeClr val="accent1"/>
                </a:solidFill>
                <a:latin typeface="Abadi" panose="020B0604020104020204" pitchFamily="34" charset="0"/>
              </a:rPr>
              <a:t> Peaks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== </a:t>
            </a:r>
            <a:r>
              <a:rPr lang="en-US" sz="1200" dirty="0" err="1">
                <a:solidFill>
                  <a:schemeClr val="tx1"/>
                </a:solidFill>
                <a:latin typeface="Abadi" panose="020B0604020104020204" pitchFamily="34" charset="0"/>
              </a:rPr>
              <a:t>cryptic_sites.bed</a:t>
            </a:r>
            <a:b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</a:br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267,309 splice sites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F3A86D-8144-E379-7458-D6A9C0EC011D}"/>
              </a:ext>
            </a:extLst>
          </p:cNvPr>
          <p:cNvSpPr/>
          <p:nvPr/>
        </p:nvSpPr>
        <p:spPr>
          <a:xfrm>
            <a:off x="1057103" y="8043538"/>
            <a:ext cx="5256572" cy="16883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Intersect </a:t>
            </a:r>
            <a:r>
              <a:rPr lang="en-US" sz="1200" dirty="0" err="1">
                <a:solidFill>
                  <a:schemeClr val="tx1"/>
                </a:solidFill>
                <a:latin typeface="Abadi" panose="020B0604020104020204" pitchFamily="34" charset="0"/>
              </a:rPr>
              <a:t>Canonical_splice_sites.bed</a:t>
            </a:r>
            <a:endParaRPr lang="en-US" sz="1200" dirty="0">
              <a:solidFill>
                <a:schemeClr val="tx1"/>
              </a:solidFill>
              <a:latin typeface="Abadi" panose="020B0604020104020204" pitchFamily="34" charset="0"/>
            </a:endParaRPr>
          </a:p>
          <a:p>
            <a:pPr algn="ctr"/>
            <a:r>
              <a:rPr lang="en-US" sz="1200" dirty="0" err="1">
                <a:solidFill>
                  <a:schemeClr val="accent1"/>
                </a:solidFill>
                <a:latin typeface="Abadi" panose="020B0604020104020204" pitchFamily="34" charset="0"/>
              </a:rPr>
              <a:t>RBPnet</a:t>
            </a:r>
            <a:r>
              <a:rPr lang="en-US" sz="1200" dirty="0">
                <a:solidFill>
                  <a:schemeClr val="accent1"/>
                </a:solidFill>
                <a:latin typeface="Abadi" panose="020B0604020104020204" pitchFamily="34" charset="0"/>
              </a:rPr>
              <a:t> PRPF8 predictions </a:t>
            </a:r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and/or </a:t>
            </a:r>
            <a:r>
              <a:rPr lang="en-US" sz="1200" dirty="0">
                <a:solidFill>
                  <a:schemeClr val="accent1"/>
                </a:solidFill>
                <a:latin typeface="Abadi" panose="020B0604020104020204" pitchFamily="34" charset="0"/>
              </a:rPr>
              <a:t>PRPF8 Peaks </a:t>
            </a:r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and/or </a:t>
            </a:r>
            <a:r>
              <a:rPr lang="en-US" sz="1200" dirty="0" err="1">
                <a:solidFill>
                  <a:schemeClr val="accent1"/>
                </a:solidFill>
                <a:latin typeface="Abadi" panose="020B0604020104020204" pitchFamily="34" charset="0"/>
              </a:rPr>
              <a:t>SmB</a:t>
            </a:r>
            <a:r>
              <a:rPr lang="en-US" sz="1200" dirty="0">
                <a:solidFill>
                  <a:schemeClr val="accent1"/>
                </a:solidFill>
                <a:latin typeface="Abadi" panose="020B0604020104020204" pitchFamily="34" charset="0"/>
              </a:rPr>
              <a:t> Peaks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==</a:t>
            </a:r>
            <a:r>
              <a:rPr lang="en-US" sz="1200" dirty="0">
                <a:solidFill>
                  <a:schemeClr val="accent1"/>
                </a:solidFill>
                <a:latin typeface="Abadi" panose="020B0604020104020204" pitchFamily="34" charset="0"/>
              </a:rPr>
              <a:t> </a:t>
            </a:r>
            <a:r>
              <a:rPr lang="en-US" sz="1200" dirty="0" err="1">
                <a:solidFill>
                  <a:schemeClr val="accent1"/>
                </a:solidFill>
                <a:latin typeface="Abadi" panose="020B0604020104020204" pitchFamily="34" charset="0"/>
              </a:rPr>
              <a:t>canonical_supported_sites.bed</a:t>
            </a:r>
            <a:endParaRPr lang="en-US" sz="1200" dirty="0">
              <a:solidFill>
                <a:schemeClr val="accent1"/>
              </a:solidFill>
              <a:latin typeface="Abadi" panose="020B0604020104020204" pitchFamily="34" charset="0"/>
            </a:endParaRPr>
          </a:p>
          <a:p>
            <a:pPr algn="ctr"/>
            <a:b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</a:br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Build overlap with introns and </a:t>
            </a:r>
            <a:r>
              <a:rPr lang="en-US" sz="1200" dirty="0" err="1">
                <a:solidFill>
                  <a:schemeClr val="tx1"/>
                </a:solidFill>
                <a:latin typeface="Abadi" panose="020B0604020104020204" pitchFamily="34" charset="0"/>
              </a:rPr>
              <a:t>GRanges</a:t>
            </a:r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 for </a:t>
            </a:r>
            <a:r>
              <a:rPr lang="en-US" sz="1200" dirty="0" err="1">
                <a:solidFill>
                  <a:schemeClr val="tx1"/>
                </a:solidFill>
                <a:latin typeface="Abadi" panose="020B0604020104020204" pitchFamily="34" charset="0"/>
              </a:rPr>
              <a:t>cryptic_sites.bed</a:t>
            </a:r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 </a:t>
            </a:r>
            <a:br>
              <a:rPr lang="en-US" sz="1200" dirty="0">
                <a:solidFill>
                  <a:schemeClr val="accent1"/>
                </a:solidFill>
                <a:latin typeface="Abadi" panose="020B0604020104020204" pitchFamily="34" charset="0"/>
              </a:rPr>
            </a:b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badi" panose="020B0604020104020204" pitchFamily="34" charset="0"/>
              </a:rPr>
              <a:t>with</a:t>
            </a:r>
            <a:r>
              <a:rPr lang="en-US" sz="1200" dirty="0">
                <a:solidFill>
                  <a:schemeClr val="accent1"/>
                </a:solidFill>
                <a:latin typeface="Abadi" panose="020B0604020104020204" pitchFamily="34" charset="0"/>
              </a:rPr>
              <a:t> </a:t>
            </a:r>
            <a:r>
              <a:rPr lang="en-US" sz="1200" dirty="0" err="1">
                <a:solidFill>
                  <a:schemeClr val="accent1"/>
                </a:solidFill>
                <a:latin typeface="Abadi" panose="020B0604020104020204" pitchFamily="34" charset="0"/>
              </a:rPr>
              <a:t>canonical_supported_sites.bed</a:t>
            </a:r>
            <a:endParaRPr lang="en-US" sz="1200" dirty="0">
              <a:solidFill>
                <a:schemeClr val="accent1"/>
              </a:solidFill>
              <a:latin typeface="Abadi" panose="020B0604020104020204" pitchFamily="34" charset="0"/>
            </a:endParaRPr>
          </a:p>
          <a:p>
            <a:pPr algn="ctr"/>
            <a:r>
              <a:rPr lang="en-US" sz="1200" dirty="0">
                <a:solidFill>
                  <a:schemeClr val="accent1"/>
                </a:solidFill>
                <a:latin typeface="Abadi" panose="020B0604020104020204" pitchFamily="34" charset="0"/>
              </a:rPr>
              <a:t>== </a:t>
            </a:r>
            <a:r>
              <a:rPr lang="en-US" sz="1200" dirty="0" err="1">
                <a:solidFill>
                  <a:schemeClr val="accent1"/>
                </a:solidFill>
                <a:latin typeface="Abadi" panose="020B0604020104020204" pitchFamily="34" charset="0"/>
              </a:rPr>
              <a:t>cryptics_supported.bed</a:t>
            </a:r>
            <a:endParaRPr lang="en-US" sz="1200" dirty="0">
              <a:solidFill>
                <a:schemeClr val="accent1"/>
              </a:solidFill>
              <a:latin typeface="Abadi" panose="020B0604020104020204" pitchFamily="34" charset="0"/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191,904 splice sites</a:t>
            </a:r>
            <a:endParaRPr lang="en-US" sz="1200" dirty="0">
              <a:solidFill>
                <a:schemeClr val="accent1"/>
              </a:solidFill>
              <a:latin typeface="Abadi" panose="020B0604020104020204" pitchFamily="34" charset="0"/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EAE3BA6-02A6-6E1B-5136-D377E5FEE4E4}"/>
              </a:ext>
            </a:extLst>
          </p:cNvPr>
          <p:cNvCxnSpPr>
            <a:cxnSpLocks/>
          </p:cNvCxnSpPr>
          <p:nvPr/>
        </p:nvCxnSpPr>
        <p:spPr>
          <a:xfrm>
            <a:off x="2717800" y="6270146"/>
            <a:ext cx="125138" cy="3739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24971D70-9CC5-6605-0360-4DB1C48DE14B}"/>
              </a:ext>
            </a:extLst>
          </p:cNvPr>
          <p:cNvSpPr/>
          <p:nvPr/>
        </p:nvSpPr>
        <p:spPr>
          <a:xfrm>
            <a:off x="192411" y="10394835"/>
            <a:ext cx="2284090" cy="1606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TWO FINAL DATASETS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Loci Feature Table</a:t>
            </a:r>
          </a:p>
          <a:p>
            <a:pPr lvl="1"/>
            <a:r>
              <a:rPr lang="en-US" sz="1200" dirty="0" err="1">
                <a:solidFill>
                  <a:schemeClr val="tx1"/>
                </a:solidFill>
                <a:latin typeface="Abadi" panose="020B0604020104020204" pitchFamily="34" charset="0"/>
              </a:rPr>
              <a:t>Decoys.bed</a:t>
            </a:r>
            <a:endParaRPr lang="en-US" sz="1200" dirty="0">
              <a:solidFill>
                <a:schemeClr val="tx1"/>
              </a:solidFill>
              <a:latin typeface="Abadi" panose="020B0604020104020204" pitchFamily="34" charset="0"/>
            </a:endParaRPr>
          </a:p>
          <a:p>
            <a:pPr lvl="1"/>
            <a:r>
              <a:rPr lang="en-US" sz="1200" dirty="0" err="1">
                <a:solidFill>
                  <a:schemeClr val="tx1"/>
                </a:solidFill>
                <a:latin typeface="Abadi" panose="020B0604020104020204" pitchFamily="34" charset="0"/>
              </a:rPr>
              <a:t>Cryptics_supported.bed</a:t>
            </a:r>
            <a:endParaRPr lang="en-US" sz="1200" dirty="0">
              <a:solidFill>
                <a:schemeClr val="tx1"/>
              </a:solidFill>
              <a:latin typeface="Abadi" panose="020B060402010402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Retained Introns Table</a:t>
            </a:r>
          </a:p>
          <a:p>
            <a:pPr lvl="1"/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Subgroups (has decoy, has cryptic, neither, both)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F7206D1-0EC6-54BF-D154-927586F64BFB}"/>
              </a:ext>
            </a:extLst>
          </p:cNvPr>
          <p:cNvSpPr/>
          <p:nvPr/>
        </p:nvSpPr>
        <p:spPr>
          <a:xfrm>
            <a:off x="624292" y="10066340"/>
            <a:ext cx="1272301" cy="39370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Raleway" pitchFamily="2" charset="0"/>
                <a:cs typeface="Posterama" panose="020B0504020200020000" pitchFamily="34" charset="0"/>
              </a:rPr>
              <a:t>Result</a:t>
            </a:r>
            <a:endParaRPr lang="en-GB" b="1" dirty="0">
              <a:latin typeface="Raleway" pitchFamily="2" charset="0"/>
              <a:cs typeface="Posterama" panose="020B0504020200020000" pitchFamily="34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C68BD2A-0DF7-1037-C351-2694BC72F616}"/>
              </a:ext>
            </a:extLst>
          </p:cNvPr>
          <p:cNvCxnSpPr>
            <a:cxnSpLocks/>
          </p:cNvCxnSpPr>
          <p:nvPr/>
        </p:nvCxnSpPr>
        <p:spPr>
          <a:xfrm flipH="1">
            <a:off x="2373243" y="11341834"/>
            <a:ext cx="689114" cy="910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3F19691-C573-725D-5058-D25769502FB7}"/>
              </a:ext>
            </a:extLst>
          </p:cNvPr>
          <p:cNvCxnSpPr>
            <a:cxnSpLocks/>
          </p:cNvCxnSpPr>
          <p:nvPr/>
        </p:nvCxnSpPr>
        <p:spPr>
          <a:xfrm flipH="1">
            <a:off x="5709285" y="7862014"/>
            <a:ext cx="454123" cy="10471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FD840B3-0833-6599-1CDA-16C7AE8F42FA}"/>
              </a:ext>
            </a:extLst>
          </p:cNvPr>
          <p:cNvCxnSpPr>
            <a:cxnSpLocks/>
          </p:cNvCxnSpPr>
          <p:nvPr/>
        </p:nvCxnSpPr>
        <p:spPr>
          <a:xfrm>
            <a:off x="2717800" y="6270146"/>
            <a:ext cx="1808480" cy="35366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5FEDBBF-5393-D218-FC43-C104DCAF2975}"/>
              </a:ext>
            </a:extLst>
          </p:cNvPr>
          <p:cNvSpPr/>
          <p:nvPr/>
        </p:nvSpPr>
        <p:spPr>
          <a:xfrm>
            <a:off x="2842938" y="10151695"/>
            <a:ext cx="3822651" cy="19540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Abadi" panose="020B0604020104020204" pitchFamily="34" charset="0"/>
              </a:rPr>
              <a:t>Pull FASTA using BED coordinates with SpliceAI_Inference.py to re-score inferences over ±24nt window surrounding the loci, &gt; 0.1 Donor Score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Abadi" panose="020B0604020104020204" pitchFamily="34" charset="0"/>
              </a:rPr>
              <a:t>7,021 Predicted Decoy Sites 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Abadi" panose="020B0604020104020204" pitchFamily="34" charset="0"/>
              </a:rPr>
              <a:t>18,808 Predicted Cryptic Sites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Finally</a:t>
            </a:r>
            <a:r>
              <a:rPr lang="en-US" sz="1200" dirty="0">
                <a:solidFill>
                  <a:schemeClr val="accent1"/>
                </a:solidFill>
                <a:latin typeface="Abadi" panose="020B0604020104020204" pitchFamily="34" charset="0"/>
              </a:rPr>
              <a:t> </a:t>
            </a:r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overlap to remove alternative 5’SS (VAST-DB PSI-TABLE) from both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Decoys kept 6,506 /  </a:t>
            </a:r>
            <a:r>
              <a:rPr lang="en-US" sz="1200" dirty="0" err="1">
                <a:solidFill>
                  <a:schemeClr val="tx1"/>
                </a:solidFill>
                <a:latin typeface="Abadi" panose="020B0604020104020204" pitchFamily="34" charset="0"/>
              </a:rPr>
              <a:t>Cryptics</a:t>
            </a:r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 kept 17,721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Then remove 3’SS 100 </a:t>
            </a:r>
            <a:r>
              <a:rPr lang="en-US" sz="1200" dirty="0" err="1">
                <a:solidFill>
                  <a:schemeClr val="tx1"/>
                </a:solidFill>
                <a:latin typeface="Abadi" panose="020B0604020104020204" pitchFamily="34" charset="0"/>
              </a:rPr>
              <a:t>nt</a:t>
            </a:r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 BP region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Decoys kept 5,689 / </a:t>
            </a:r>
            <a:r>
              <a:rPr lang="en-US" sz="1200" dirty="0" err="1">
                <a:solidFill>
                  <a:schemeClr val="tx1"/>
                </a:solidFill>
                <a:latin typeface="Abadi" panose="020B0604020104020204" pitchFamily="34" charset="0"/>
              </a:rPr>
              <a:t>Cryptics</a:t>
            </a:r>
            <a:r>
              <a:rPr lang="en-US" sz="1200" dirty="0">
                <a:solidFill>
                  <a:schemeClr val="tx1"/>
                </a:solidFill>
                <a:latin typeface="Abadi" panose="020B0604020104020204" pitchFamily="34" charset="0"/>
              </a:rPr>
              <a:t> 16,295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5A2A3E-627D-B882-477F-0B33901699FE}"/>
              </a:ext>
            </a:extLst>
          </p:cNvPr>
          <p:cNvSpPr/>
          <p:nvPr/>
        </p:nvSpPr>
        <p:spPr>
          <a:xfrm>
            <a:off x="3685389" y="9838422"/>
            <a:ext cx="2090721" cy="39710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Raleway" pitchFamily="2" charset="0"/>
                <a:cs typeface="Posterama" panose="020B0504020200020000" pitchFamily="34" charset="0"/>
              </a:rPr>
              <a:t>Rescore locus</a:t>
            </a:r>
            <a:endParaRPr lang="en-GB" b="1" dirty="0">
              <a:latin typeface="Raleway" pitchFamily="2" charset="0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564789"/>
      </p:ext>
    </p:extLst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Explore</Template>
  <TotalTime>1468</TotalTime>
  <Words>369</Words>
  <Application>Microsoft Office PowerPoint</Application>
  <PresentationFormat>Widescreen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SimHei</vt:lpstr>
      <vt:lpstr>Abadi</vt:lpstr>
      <vt:lpstr>Arial</vt:lpstr>
      <vt:lpstr>Avenir Next LT Pro</vt:lpstr>
      <vt:lpstr>AvenirNext LT Pro Medium</vt:lpstr>
      <vt:lpstr>Posterama</vt:lpstr>
      <vt:lpstr>Raleway</vt:lpstr>
      <vt:lpstr>ExploreVTI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Jones</dc:creator>
  <cp:lastModifiedBy>Michael Jones</cp:lastModifiedBy>
  <cp:revision>28</cp:revision>
  <dcterms:created xsi:type="dcterms:W3CDTF">2026-08-11T10:51:43Z</dcterms:created>
  <dcterms:modified xsi:type="dcterms:W3CDTF">2026-09-29T09:14:56Z</dcterms:modified>
</cp:coreProperties>
</file>