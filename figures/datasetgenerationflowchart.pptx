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</p:sldIdLst>
  <p:sldSz cx="6858000" cy="121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>
        <p:scale>
          <a:sx n="75" d="100"/>
          <a:sy n="75" d="100"/>
        </p:scale>
        <p:origin x="3042" y="-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995312"/>
            <a:ext cx="5143500" cy="424462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85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4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5"/>
            <a:ext cx="5915025" cy="507153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8159046"/>
            <a:ext cx="5915025" cy="26669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9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52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49112"/>
            <a:ext cx="5915025" cy="23565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49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8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174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226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44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08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649111"/>
            <a:ext cx="1478756" cy="1033215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649111"/>
            <a:ext cx="4350544" cy="1033215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55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6856286" cy="12192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389725" y="-5485"/>
            <a:ext cx="745937" cy="1062405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5872082" y="10972801"/>
            <a:ext cx="833682" cy="1207756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4487261" y="9239428"/>
            <a:ext cx="2369025" cy="295257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6103" y="26983"/>
            <a:ext cx="1236910" cy="5922229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4843462" y="5825067"/>
            <a:ext cx="1985209" cy="6366932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649112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0DAF61AA-5A98-4049-A93E-477E5505141A}" type="datetimeFigureOut">
              <a:rPr lang="en-US" smtClean="0"/>
              <a:pPr/>
              <a:t>9/11/2026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11300179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72125" y="11300179"/>
            <a:ext cx="814388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52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E16FFA0-65E8-131F-6366-6E60FA7DA310}"/>
              </a:ext>
            </a:extLst>
          </p:cNvPr>
          <p:cNvSpPr/>
          <p:nvPr/>
        </p:nvSpPr>
        <p:spPr>
          <a:xfrm>
            <a:off x="694592" y="618391"/>
            <a:ext cx="5468816" cy="14009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SpliceAI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inferences generated across whole introns and filtered to remove signal below 0.05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794,192 splice site inferences</a:t>
            </a:r>
            <a:endParaRPr lang="en-GB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B70EEDD-A0AD-0DB4-9816-F3F88A2A2029}"/>
              </a:ext>
            </a:extLst>
          </p:cNvPr>
          <p:cNvSpPr/>
          <p:nvPr/>
        </p:nvSpPr>
        <p:spPr>
          <a:xfrm>
            <a:off x="6001130" y="1318845"/>
            <a:ext cx="508000" cy="4953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-a</a:t>
            </a:r>
            <a:endParaRPr lang="en-GB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C0822E-1796-6E3C-602C-7D9DC80893DD}"/>
              </a:ext>
            </a:extLst>
          </p:cNvPr>
          <p:cNvSpPr/>
          <p:nvPr/>
        </p:nvSpPr>
        <p:spPr>
          <a:xfrm>
            <a:off x="694592" y="4143828"/>
            <a:ext cx="5468816" cy="5762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Intersect –v to remove splice sites within 100 bp of canonical splice sites</a:t>
            </a: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600" dirty="0" err="1">
                <a:solidFill>
                  <a:schemeClr val="accent1"/>
                </a:solidFill>
                <a:latin typeface="Abadi" panose="020B0604020104020204" pitchFamily="34" charset="0"/>
              </a:rPr>
              <a:t>Wide_canonical_splice_sites.bed</a:t>
            </a:r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RBPnet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</a:t>
            </a:r>
            <a:r>
              <a:rPr lang="en-US" sz="1600" dirty="0">
                <a:solidFill>
                  <a:schemeClr val="accent1"/>
                </a:solidFill>
                <a:latin typeface="Abadi" panose="020B0604020104020204" pitchFamily="34" charset="0"/>
              </a:rPr>
              <a:t>PRPF8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predictions across introns 242,946 Peaks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Merged </a:t>
            </a:r>
            <a:r>
              <a:rPr lang="en-US" sz="1600" dirty="0">
                <a:solidFill>
                  <a:schemeClr val="accent1"/>
                </a:solidFill>
                <a:latin typeface="Abadi" panose="020B0604020104020204" pitchFamily="34" charset="0"/>
              </a:rPr>
              <a:t>PRPF8 </a:t>
            </a:r>
            <a:r>
              <a:rPr lang="en-US" sz="1600" dirty="0" err="1">
                <a:solidFill>
                  <a:schemeClr val="accent1"/>
                </a:solidFill>
                <a:latin typeface="Abadi" panose="020B0604020104020204" pitchFamily="34" charset="0"/>
              </a:rPr>
              <a:t>eCLIP</a:t>
            </a:r>
            <a:r>
              <a:rPr lang="en-US" sz="1600" dirty="0">
                <a:solidFill>
                  <a:schemeClr val="accent1"/>
                </a:solidFill>
                <a:latin typeface="Abadi" panose="020B0604020104020204" pitchFamily="34" charset="0"/>
              </a:rPr>
              <a:t> and </a:t>
            </a:r>
            <a:r>
              <a:rPr lang="en-US" sz="1600" dirty="0" err="1">
                <a:solidFill>
                  <a:schemeClr val="accent1"/>
                </a:solidFill>
                <a:latin typeface="Abadi" panose="020B0604020104020204" pitchFamily="34" charset="0"/>
              </a:rPr>
              <a:t>iCLIP</a:t>
            </a:r>
            <a:r>
              <a:rPr lang="en-US" sz="16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227,651 Peaks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Merged </a:t>
            </a:r>
            <a:r>
              <a:rPr lang="en-GB" sz="16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GB" sz="16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GB" sz="1600" dirty="0" err="1">
                <a:solidFill>
                  <a:schemeClr val="accent1"/>
                </a:solidFill>
                <a:latin typeface="Abadi" panose="020B0604020104020204" pitchFamily="34" charset="0"/>
              </a:rPr>
              <a:t>iCLIP</a:t>
            </a:r>
            <a:r>
              <a:rPr lang="en-GB" sz="16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152,983 Peaks </a:t>
            </a:r>
          </a:p>
          <a:p>
            <a:pPr algn="ctr"/>
            <a:endParaRPr lang="en-GB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Need to use Granges AGAIN, to remove exons from intronic regions in decoys/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cryptics</a:t>
            </a:r>
            <a:endParaRPr lang="en-US" sz="14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2F0223-9EAB-1B55-C4B8-90BD5A9F1ABD}"/>
              </a:ext>
            </a:extLst>
          </p:cNvPr>
          <p:cNvSpPr/>
          <p:nvPr/>
        </p:nvSpPr>
        <p:spPr>
          <a:xfrm>
            <a:off x="2127250" y="42154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latin typeface="Raleway" pitchFamily="2" charset="0"/>
                <a:cs typeface="Posterama" panose="020B0504020200020000" pitchFamily="34" charset="0"/>
              </a:rPr>
              <a:t>SpliceAI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58C80A-D7BA-B1DC-3A6A-28477E98B595}"/>
              </a:ext>
            </a:extLst>
          </p:cNvPr>
          <p:cNvSpPr/>
          <p:nvPr/>
        </p:nvSpPr>
        <p:spPr>
          <a:xfrm>
            <a:off x="2127250" y="3946979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Bedtools intersect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2C851E-9F51-FD47-A220-F6AF5F60A9C4}"/>
              </a:ext>
            </a:extLst>
          </p:cNvPr>
          <p:cNvSpPr/>
          <p:nvPr/>
        </p:nvSpPr>
        <p:spPr>
          <a:xfrm>
            <a:off x="694592" y="2369514"/>
            <a:ext cx="5468816" cy="12802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Using 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GRanges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, keep only “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protein_coding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” regions in Gencode.v49.annotation.gtf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* Predicted splice sites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6EE5-AF03-3D0F-E200-390864EB9EBA}"/>
              </a:ext>
            </a:extLst>
          </p:cNvPr>
          <p:cNvSpPr/>
          <p:nvPr/>
        </p:nvSpPr>
        <p:spPr>
          <a:xfrm>
            <a:off x="694592" y="10440381"/>
            <a:ext cx="5468816" cy="15193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Pull FASTA using BED coordinates with SpliceAI_Inference.py to re-score inferences over a ±24nt window surrounding the loci, filter to &gt; 0.1 Donor Score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7022 Predicted Splice Sites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31029C-2849-065F-6921-B5EDD11CF6C5}"/>
              </a:ext>
            </a:extLst>
          </p:cNvPr>
          <p:cNvSpPr/>
          <p:nvPr/>
        </p:nvSpPr>
        <p:spPr>
          <a:xfrm>
            <a:off x="2127250" y="2172664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Genomic Ranges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F18A3004-090F-26E2-3A54-3E8AB0186268}"/>
              </a:ext>
            </a:extLst>
          </p:cNvPr>
          <p:cNvSpPr/>
          <p:nvPr/>
        </p:nvSpPr>
        <p:spPr>
          <a:xfrm>
            <a:off x="5945663" y="4304668"/>
            <a:ext cx="300349" cy="3014187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A8B043-284B-871C-0F20-AB9A4DE82FA3}"/>
              </a:ext>
            </a:extLst>
          </p:cNvPr>
          <p:cNvSpPr/>
          <p:nvPr/>
        </p:nvSpPr>
        <p:spPr>
          <a:xfrm>
            <a:off x="2127250" y="1024353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Rescore locus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A3C5B3-0E4E-58AA-3355-3552F2F1365C}"/>
              </a:ext>
            </a:extLst>
          </p:cNvPr>
          <p:cNvSpPr/>
          <p:nvPr/>
        </p:nvSpPr>
        <p:spPr>
          <a:xfrm>
            <a:off x="6030438" y="5564112"/>
            <a:ext cx="508000" cy="4953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-b</a:t>
            </a:r>
            <a:endParaRPr lang="en-GB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B30D7F-2777-4174-C8AB-D0DE9459BC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837" r="20597"/>
          <a:stretch>
            <a:fillRect/>
          </a:stretch>
        </p:blipFill>
        <p:spPr>
          <a:xfrm>
            <a:off x="402166" y="5403328"/>
            <a:ext cx="5708780" cy="285574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E99D58F-D8A1-36D1-08B2-D4B2D1CF4EA6}"/>
              </a:ext>
            </a:extLst>
          </p:cNvPr>
          <p:cNvCxnSpPr>
            <a:cxnSpLocks/>
          </p:cNvCxnSpPr>
          <p:nvPr/>
        </p:nvCxnSpPr>
        <p:spPr>
          <a:xfrm>
            <a:off x="3971925" y="5403328"/>
            <a:ext cx="457200" cy="8926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59153F-C10D-2CF6-4421-32D3C2D17193}"/>
              </a:ext>
            </a:extLst>
          </p:cNvPr>
          <p:cNvCxnSpPr>
            <a:cxnSpLocks/>
          </p:cNvCxnSpPr>
          <p:nvPr/>
        </p:nvCxnSpPr>
        <p:spPr>
          <a:xfrm>
            <a:off x="4452938" y="6767513"/>
            <a:ext cx="0" cy="13821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3254414-C9FD-7817-C8C3-17BE8AC59B65}"/>
              </a:ext>
            </a:extLst>
          </p:cNvPr>
          <p:cNvSpPr txBox="1"/>
          <p:nvPr/>
        </p:nvSpPr>
        <p:spPr>
          <a:xfrm>
            <a:off x="0" y="0"/>
            <a:ext cx="21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CURRENT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2113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46146-B82F-C9BA-9347-5B1D9E5F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1F23D2E-2079-4704-8564-AA968031C0D2}"/>
              </a:ext>
            </a:extLst>
          </p:cNvPr>
          <p:cNvCxnSpPr>
            <a:cxnSpLocks/>
          </p:cNvCxnSpPr>
          <p:nvPr/>
        </p:nvCxnSpPr>
        <p:spPr>
          <a:xfrm>
            <a:off x="1133475" y="9953343"/>
            <a:ext cx="3193248" cy="13512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36FDDD2-8D43-A135-5329-ED20464B5E0F}"/>
              </a:ext>
            </a:extLst>
          </p:cNvPr>
          <p:cNvSpPr/>
          <p:nvPr/>
        </p:nvSpPr>
        <p:spPr>
          <a:xfrm>
            <a:off x="694592" y="618391"/>
            <a:ext cx="5468816" cy="10145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SpliceAI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inferences generated across whole introns and filtered to remove signal below 0.05</a:t>
            </a:r>
          </a:p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794,192 splice site inferences</a:t>
            </a:r>
            <a:endParaRPr lang="en-GB" sz="14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EF1563-0C33-BE4B-F0E6-CE5448F4BE4F}"/>
              </a:ext>
            </a:extLst>
          </p:cNvPr>
          <p:cNvSpPr/>
          <p:nvPr/>
        </p:nvSpPr>
        <p:spPr>
          <a:xfrm>
            <a:off x="694592" y="3464631"/>
            <a:ext cx="5468816" cy="10151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Create a new exonic bed to filter splice sites within 100 bp of exon boundaries</a:t>
            </a:r>
          </a:p>
          <a:p>
            <a:pPr algn="ctr"/>
            <a:r>
              <a:rPr lang="en-US" sz="1400" dirty="0">
                <a:solidFill>
                  <a:schemeClr val="accent1"/>
                </a:solidFill>
                <a:latin typeface="Abadi" panose="020B0604020104020204" pitchFamily="34" charset="0"/>
              </a:rPr>
              <a:t>50nt_exonic_loci.bed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5B8832-A681-E024-AF34-09BED346DF87}"/>
              </a:ext>
            </a:extLst>
          </p:cNvPr>
          <p:cNvSpPr/>
          <p:nvPr/>
        </p:nvSpPr>
        <p:spPr>
          <a:xfrm>
            <a:off x="2127250" y="42154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latin typeface="Raleway" pitchFamily="2" charset="0"/>
                <a:cs typeface="Posterama" panose="020B0504020200020000" pitchFamily="34" charset="0"/>
              </a:rPr>
              <a:t>SpliceAI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7BB162-2D86-44A6-4FAC-AF1178C52E17}"/>
              </a:ext>
            </a:extLst>
          </p:cNvPr>
          <p:cNvSpPr/>
          <p:nvPr/>
        </p:nvSpPr>
        <p:spPr>
          <a:xfrm>
            <a:off x="694592" y="1975814"/>
            <a:ext cx="5468816" cy="11302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Using 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GRanges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, keep only “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protein_coding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” regions in Gencode.v49.annotation.gtf</a:t>
            </a:r>
          </a:p>
          <a:p>
            <a:pPr algn="ctr"/>
            <a:r>
              <a:rPr lang="en-US" sz="1400" dirty="0" err="1">
                <a:solidFill>
                  <a:schemeClr val="accent1"/>
                </a:solidFill>
                <a:latin typeface="Abadi" panose="020B0604020104020204" pitchFamily="34" charset="0"/>
              </a:rPr>
              <a:t>Protein_coding_sites.bed</a:t>
            </a:r>
            <a:endParaRPr lang="en-US" sz="14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CD350F-DE7C-600B-2C59-379360BFA161}"/>
              </a:ext>
            </a:extLst>
          </p:cNvPr>
          <p:cNvSpPr/>
          <p:nvPr/>
        </p:nvSpPr>
        <p:spPr>
          <a:xfrm>
            <a:off x="2127250" y="1778964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Genomic Ranges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9560D4-C02F-4894-8EAD-C2116003F6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377" r="20597"/>
          <a:stretch>
            <a:fillRect/>
          </a:stretch>
        </p:blipFill>
        <p:spPr>
          <a:xfrm>
            <a:off x="574610" y="4838331"/>
            <a:ext cx="5708780" cy="230329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C74F9B-5EE0-B602-61CE-8304D5B4E442}"/>
              </a:ext>
            </a:extLst>
          </p:cNvPr>
          <p:cNvCxnSpPr>
            <a:cxnSpLocks/>
          </p:cNvCxnSpPr>
          <p:nvPr/>
        </p:nvCxnSpPr>
        <p:spPr>
          <a:xfrm>
            <a:off x="4326723" y="4301330"/>
            <a:ext cx="525671" cy="8955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39BD0A-E98E-7F5F-546D-DD10B661AE50}"/>
              </a:ext>
            </a:extLst>
          </p:cNvPr>
          <p:cNvCxnSpPr>
            <a:cxnSpLocks/>
          </p:cNvCxnSpPr>
          <p:nvPr/>
        </p:nvCxnSpPr>
        <p:spPr>
          <a:xfrm>
            <a:off x="4625382" y="5650066"/>
            <a:ext cx="0" cy="13821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50C5DF0C-5B73-6093-285E-5B4DE3EA7FBF}"/>
              </a:ext>
            </a:extLst>
          </p:cNvPr>
          <p:cNvSpPr/>
          <p:nvPr/>
        </p:nvSpPr>
        <p:spPr>
          <a:xfrm>
            <a:off x="4852394" y="5296053"/>
            <a:ext cx="525671" cy="110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12864-D50D-2AD6-7FBE-43E8FD8FE5D0}"/>
              </a:ext>
            </a:extLst>
          </p:cNvPr>
          <p:cNvCxnSpPr>
            <a:cxnSpLocks/>
          </p:cNvCxnSpPr>
          <p:nvPr/>
        </p:nvCxnSpPr>
        <p:spPr>
          <a:xfrm>
            <a:off x="5234982" y="5650066"/>
            <a:ext cx="0" cy="13821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A203446-C53A-CA4E-ED61-017C4703609F}"/>
              </a:ext>
            </a:extLst>
          </p:cNvPr>
          <p:cNvSpPr/>
          <p:nvPr/>
        </p:nvSpPr>
        <p:spPr>
          <a:xfrm>
            <a:off x="114297" y="7537530"/>
            <a:ext cx="6619875" cy="9091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ctr"/>
            <a:endParaRPr lang="en-GB" sz="14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-v (does not overlap) 50nt_exonic_loci.bed</a:t>
            </a:r>
            <a:b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== </a:t>
            </a:r>
            <a:r>
              <a:rPr lang="en-GB" sz="1400" dirty="0" err="1">
                <a:solidFill>
                  <a:schemeClr val="accent1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deep_intronic_sites.bed</a:t>
            </a:r>
            <a:endParaRPr lang="en-GB" sz="1400" dirty="0">
              <a:solidFill>
                <a:schemeClr val="accent1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endParaRPr lang="en-GB" sz="14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endParaRPr lang="en-GB" sz="14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endParaRPr lang="en-GB" sz="14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-c (does overlap) 50nt_exonic_loci.bed</a:t>
            </a:r>
            <a:b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== </a:t>
            </a:r>
            <a:r>
              <a:rPr lang="en-GB" sz="1400" dirty="0" err="1">
                <a:solidFill>
                  <a:schemeClr val="accent1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exonic.bed</a:t>
            </a:r>
            <a:endParaRPr lang="en-US" sz="14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endParaRPr lang="en-US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86058C-5F08-E956-A26E-19F8D99BD785}"/>
              </a:ext>
            </a:extLst>
          </p:cNvPr>
          <p:cNvSpPr/>
          <p:nvPr/>
        </p:nvSpPr>
        <p:spPr>
          <a:xfrm>
            <a:off x="2127250" y="7221972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Bedtools intersect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8BE0AB-C7A5-4A64-AB8A-3FDFA8307852}"/>
              </a:ext>
            </a:extLst>
          </p:cNvPr>
          <p:cNvSpPr/>
          <p:nvPr/>
        </p:nvSpPr>
        <p:spPr>
          <a:xfrm>
            <a:off x="1847054" y="3227259"/>
            <a:ext cx="315436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VAST-DB MAIN-PSI-TABLE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639E164-C200-CA46-95AD-8E6D551016C1}"/>
              </a:ext>
            </a:extLst>
          </p:cNvPr>
          <p:cNvSpPr/>
          <p:nvPr/>
        </p:nvSpPr>
        <p:spPr>
          <a:xfrm>
            <a:off x="114298" y="8522406"/>
            <a:ext cx="3314702" cy="14883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deep_intronic_sites.bed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decoys.bed</a:t>
            </a:r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deep_intronic_sites.bed</a:t>
            </a:r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None of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cryptic_sites.bed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9C454C-497A-EEF9-9806-1AD272B5DBF2}"/>
              </a:ext>
            </a:extLst>
          </p:cNvPr>
          <p:cNvSpPr/>
          <p:nvPr/>
        </p:nvSpPr>
        <p:spPr>
          <a:xfrm>
            <a:off x="4051997" y="8656821"/>
            <a:ext cx="2346918" cy="9091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exonic.bed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-v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canonical_splice_sites.bed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alt5_splice_sites.bed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CDD2FF-01BE-CB9E-D112-F3133CBDA1A6}"/>
              </a:ext>
            </a:extLst>
          </p:cNvPr>
          <p:cNvSpPr/>
          <p:nvPr/>
        </p:nvSpPr>
        <p:spPr>
          <a:xfrm>
            <a:off x="114297" y="10167597"/>
            <a:ext cx="3879434" cy="1778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Create new dataset, 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Canonical_splice_sites.bed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Build overlap with introns and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GRanges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for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cryptic_sites.bed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with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canonical_supported_sites.bed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cryptics_supported.bed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0F39E967-6144-B1AE-9CD6-F5523B6FE432}"/>
              </a:ext>
            </a:extLst>
          </p:cNvPr>
          <p:cNvCxnSpPr>
            <a:cxnSpLocks/>
          </p:cNvCxnSpPr>
          <p:nvPr/>
        </p:nvCxnSpPr>
        <p:spPr>
          <a:xfrm rot="16200000" flipH="1">
            <a:off x="2441276" y="10369849"/>
            <a:ext cx="1209679" cy="49153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F7900BE-0022-626E-D64B-2254BD0F9118}"/>
              </a:ext>
            </a:extLst>
          </p:cNvPr>
          <p:cNvCxnSpPr>
            <a:cxnSpLocks/>
          </p:cNvCxnSpPr>
          <p:nvPr/>
        </p:nvCxnSpPr>
        <p:spPr>
          <a:xfrm>
            <a:off x="1771649" y="8334375"/>
            <a:ext cx="0" cy="3493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ADC1EF0-6792-562E-8FCC-7100A09C72A9}"/>
              </a:ext>
            </a:extLst>
          </p:cNvPr>
          <p:cNvCxnSpPr>
            <a:cxnSpLocks/>
          </p:cNvCxnSpPr>
          <p:nvPr/>
        </p:nvCxnSpPr>
        <p:spPr>
          <a:xfrm flipH="1">
            <a:off x="5225456" y="8334375"/>
            <a:ext cx="9526" cy="3137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18BC3F71-301D-B74D-8E87-3247AB52F4BF}"/>
              </a:ext>
            </a:extLst>
          </p:cNvPr>
          <p:cNvSpPr/>
          <p:nvPr/>
        </p:nvSpPr>
        <p:spPr>
          <a:xfrm>
            <a:off x="4332865" y="10147960"/>
            <a:ext cx="2346918" cy="1778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FOUR FINAL DATASETS</a:t>
            </a:r>
          </a:p>
          <a:p>
            <a:pPr algn="ctr"/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Canonical_splice_sites.bed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Alt5_splice_sites.bed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Decoys.bed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Cryptics_supported.bed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0EBDD17-E857-FAD9-ECF4-2CDFD6B87B2B}"/>
              </a:ext>
            </a:extLst>
          </p:cNvPr>
          <p:cNvSpPr/>
          <p:nvPr/>
        </p:nvSpPr>
        <p:spPr>
          <a:xfrm>
            <a:off x="4870173" y="9953343"/>
            <a:ext cx="1272301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Result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A29C1C3-045C-E477-9C9C-368BABC9DC23}"/>
              </a:ext>
            </a:extLst>
          </p:cNvPr>
          <p:cNvCxnSpPr>
            <a:cxnSpLocks/>
          </p:cNvCxnSpPr>
          <p:nvPr/>
        </p:nvCxnSpPr>
        <p:spPr>
          <a:xfrm>
            <a:off x="5483504" y="9507483"/>
            <a:ext cx="0" cy="4458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3DE3673-D041-6C3D-F22F-5B45B2F6FF1B}"/>
              </a:ext>
            </a:extLst>
          </p:cNvPr>
          <p:cNvCxnSpPr>
            <a:cxnSpLocks/>
          </p:cNvCxnSpPr>
          <p:nvPr/>
        </p:nvCxnSpPr>
        <p:spPr>
          <a:xfrm flipV="1">
            <a:off x="3046115" y="11499144"/>
            <a:ext cx="1245754" cy="2800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467D879-2CAF-EB74-F0CE-F506D82A7E60}"/>
              </a:ext>
            </a:extLst>
          </p:cNvPr>
          <p:cNvSpPr txBox="1"/>
          <p:nvPr/>
        </p:nvSpPr>
        <p:spPr>
          <a:xfrm>
            <a:off x="0" y="0"/>
            <a:ext cx="2603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NEW Proposal</a:t>
            </a:r>
            <a:endParaRPr lang="en-GB" sz="28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02A84F7B-65EF-C365-CE3B-DA1A4F4310DE}"/>
              </a:ext>
            </a:extLst>
          </p:cNvPr>
          <p:cNvSpPr/>
          <p:nvPr/>
        </p:nvSpPr>
        <p:spPr>
          <a:xfrm>
            <a:off x="431756" y="3971925"/>
            <a:ext cx="525671" cy="470504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F794447-796E-91E8-B98B-2DC0DF124375}"/>
              </a:ext>
            </a:extLst>
          </p:cNvPr>
          <p:cNvCxnSpPr>
            <a:cxnSpLocks/>
          </p:cNvCxnSpPr>
          <p:nvPr/>
        </p:nvCxnSpPr>
        <p:spPr>
          <a:xfrm>
            <a:off x="168920" y="497244"/>
            <a:ext cx="405690" cy="339892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8028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C57A-A402-852A-5A46-980E0F906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7E4938-9453-0E5B-76BE-C5754079A5B6}"/>
              </a:ext>
            </a:extLst>
          </p:cNvPr>
          <p:cNvSpPr/>
          <p:nvPr/>
        </p:nvSpPr>
        <p:spPr>
          <a:xfrm>
            <a:off x="694592" y="618391"/>
            <a:ext cx="5468816" cy="10145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SpliceAI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inferences generated across whole introns and filtered to remove signal below 0.05</a:t>
            </a:r>
          </a:p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794,192 splice site inferences</a:t>
            </a:r>
            <a:endParaRPr lang="en-GB" sz="14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76C3A-D43F-1F89-E3EE-3F2017980370}"/>
              </a:ext>
            </a:extLst>
          </p:cNvPr>
          <p:cNvSpPr/>
          <p:nvPr/>
        </p:nvSpPr>
        <p:spPr>
          <a:xfrm>
            <a:off x="694592" y="3756322"/>
            <a:ext cx="5468816" cy="10151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Extract 5’ splice sites from PSI-TABLE to filter loci within +-50 bp of 5’ canonical splice site</a:t>
            </a:r>
          </a:p>
          <a:p>
            <a:pPr algn="ctr"/>
            <a:r>
              <a:rPr lang="en-US" sz="14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Canonical_splice_sites.bed</a:t>
            </a:r>
            <a:endParaRPr lang="en-US" sz="14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400" dirty="0" err="1">
                <a:solidFill>
                  <a:schemeClr val="accent1"/>
                </a:solidFill>
                <a:latin typeface="Abadi" panose="020B0604020104020204" pitchFamily="34" charset="0"/>
              </a:rPr>
              <a:t>Wide_canonical_splice_sites.bed</a:t>
            </a:r>
            <a:endParaRPr lang="en-US" sz="14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9376B9-F34D-029B-5D6C-958D73FB227D}"/>
              </a:ext>
            </a:extLst>
          </p:cNvPr>
          <p:cNvSpPr/>
          <p:nvPr/>
        </p:nvSpPr>
        <p:spPr>
          <a:xfrm>
            <a:off x="2127250" y="42154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latin typeface="Raleway" pitchFamily="2" charset="0"/>
                <a:cs typeface="Posterama" panose="020B0504020200020000" pitchFamily="34" charset="0"/>
              </a:rPr>
              <a:t>SpliceAI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F81091-4972-AE75-04E4-AB75D899982E}"/>
              </a:ext>
            </a:extLst>
          </p:cNvPr>
          <p:cNvSpPr/>
          <p:nvPr/>
        </p:nvSpPr>
        <p:spPr>
          <a:xfrm>
            <a:off x="694592" y="2040306"/>
            <a:ext cx="5468816" cy="11302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Using 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GRanges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, keep only “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protein_coding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” regions in Gencode.v49.annotation.gtf</a:t>
            </a:r>
          </a:p>
          <a:p>
            <a:pPr algn="ctr"/>
            <a:r>
              <a:rPr lang="en-US" sz="1400" dirty="0" err="1">
                <a:solidFill>
                  <a:schemeClr val="accent1"/>
                </a:solidFill>
                <a:latin typeface="Abadi" panose="020B0604020104020204" pitchFamily="34" charset="0"/>
              </a:rPr>
              <a:t>Protein_coding_sites.bed</a:t>
            </a:r>
            <a:endParaRPr lang="en-US" sz="14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02F80F-8628-CCAE-9433-804866667A25}"/>
              </a:ext>
            </a:extLst>
          </p:cNvPr>
          <p:cNvSpPr/>
          <p:nvPr/>
        </p:nvSpPr>
        <p:spPr>
          <a:xfrm>
            <a:off x="2127250" y="1843456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Genomic Ranges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37634D-E3A9-674A-3683-3BFD7D33FE0B}"/>
              </a:ext>
            </a:extLst>
          </p:cNvPr>
          <p:cNvSpPr/>
          <p:nvPr/>
        </p:nvSpPr>
        <p:spPr>
          <a:xfrm>
            <a:off x="114296" y="5361027"/>
            <a:ext cx="6619875" cy="9091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-v (no overlap) </a:t>
            </a:r>
            <a:r>
              <a:rPr lang="en-GB" sz="1400" dirty="0" err="1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Wide_canonical_splice_sites.bed</a:t>
            </a:r>
            <a:b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== </a:t>
            </a:r>
            <a:r>
              <a:rPr lang="en-GB" sz="1400" dirty="0" err="1">
                <a:solidFill>
                  <a:schemeClr val="accent1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deep_intronic_sites.bed</a:t>
            </a:r>
            <a:endParaRPr lang="en-GB" sz="14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-c (does overlap) </a:t>
            </a:r>
            <a:r>
              <a:rPr lang="en-GB" sz="1400" dirty="0" err="1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Wide_canonical_splice_sites.bed</a:t>
            </a:r>
            <a:b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== </a:t>
            </a:r>
            <a:r>
              <a:rPr lang="en-GB" sz="1400" dirty="0" err="1">
                <a:solidFill>
                  <a:schemeClr val="accent1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exonic.bed</a:t>
            </a:r>
            <a:endParaRPr lang="en-US" sz="14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967661-85DE-107A-4B1B-CFB488F451C2}"/>
              </a:ext>
            </a:extLst>
          </p:cNvPr>
          <p:cNvSpPr/>
          <p:nvPr/>
        </p:nvSpPr>
        <p:spPr>
          <a:xfrm>
            <a:off x="2127250" y="5045458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Bedtools intersect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51F035-A026-80BA-A628-1C81C6EB44B3}"/>
              </a:ext>
            </a:extLst>
          </p:cNvPr>
          <p:cNvSpPr/>
          <p:nvPr/>
        </p:nvSpPr>
        <p:spPr>
          <a:xfrm>
            <a:off x="1847053" y="3419614"/>
            <a:ext cx="315436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VAST-DB MAIN-PSI-TABLE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30B05C-C3AA-27AC-7761-A14BF84794E5}"/>
              </a:ext>
            </a:extLst>
          </p:cNvPr>
          <p:cNvSpPr/>
          <p:nvPr/>
        </p:nvSpPr>
        <p:spPr>
          <a:xfrm>
            <a:off x="192410" y="6734386"/>
            <a:ext cx="6473179" cy="11324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deep_intronic_sites.bed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decoys.bed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deep_intronic_sites.bed</a:t>
            </a:r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None of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cryptic_sites.bed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0F3A86D-8144-E379-7458-D6A9C0EC011D}"/>
              </a:ext>
            </a:extLst>
          </p:cNvPr>
          <p:cNvSpPr/>
          <p:nvPr/>
        </p:nvSpPr>
        <p:spPr>
          <a:xfrm>
            <a:off x="1388756" y="8188935"/>
            <a:ext cx="4391691" cy="187670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Canonical_splice_sites.bed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canonical_supported_sites.bed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Build overlap with introns and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GRanges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for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cryptic_sites.bed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with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canonical_supported_sites.bed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cryptics_supported.bed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EAE3BA6-02A6-6E1B-5136-D377E5FEE4E4}"/>
              </a:ext>
            </a:extLst>
          </p:cNvPr>
          <p:cNvCxnSpPr>
            <a:cxnSpLocks/>
          </p:cNvCxnSpPr>
          <p:nvPr/>
        </p:nvCxnSpPr>
        <p:spPr>
          <a:xfrm>
            <a:off x="2717800" y="6270146"/>
            <a:ext cx="622300" cy="6414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24971D70-9CC5-6605-0360-4DB1C48DE14B}"/>
              </a:ext>
            </a:extLst>
          </p:cNvPr>
          <p:cNvSpPr/>
          <p:nvPr/>
        </p:nvSpPr>
        <p:spPr>
          <a:xfrm>
            <a:off x="2438455" y="10896599"/>
            <a:ext cx="2292295" cy="9937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TWO FINAL DATASETS</a:t>
            </a:r>
          </a:p>
          <a:p>
            <a:pPr algn="ctr"/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Decoys.bed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Cryptics_supported.bed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F7206D1-0EC6-54BF-D154-927586F64BFB}"/>
              </a:ext>
            </a:extLst>
          </p:cNvPr>
          <p:cNvSpPr/>
          <p:nvPr/>
        </p:nvSpPr>
        <p:spPr>
          <a:xfrm>
            <a:off x="2952943" y="10574533"/>
            <a:ext cx="1272301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Result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C68BD2A-0DF7-1037-C351-2694BC72F616}"/>
              </a:ext>
            </a:extLst>
          </p:cNvPr>
          <p:cNvCxnSpPr>
            <a:cxnSpLocks/>
          </p:cNvCxnSpPr>
          <p:nvPr/>
        </p:nvCxnSpPr>
        <p:spPr>
          <a:xfrm>
            <a:off x="3587804" y="10128673"/>
            <a:ext cx="0" cy="4458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3F19691-C573-725D-5058-D25769502FB7}"/>
              </a:ext>
            </a:extLst>
          </p:cNvPr>
          <p:cNvCxnSpPr>
            <a:cxnSpLocks/>
          </p:cNvCxnSpPr>
          <p:nvPr/>
        </p:nvCxnSpPr>
        <p:spPr>
          <a:xfrm flipH="1">
            <a:off x="5001413" y="7813171"/>
            <a:ext cx="154787" cy="16247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0564789"/>
      </p:ext>
    </p:extLst>
  </p:cSld>
  <p:clrMapOvr>
    <a:masterClrMapping/>
  </p:clrMapOvr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Explore</Template>
  <TotalTime>1098</TotalTime>
  <Words>671</Words>
  <Application>Microsoft Office PowerPoint</Application>
  <PresentationFormat>Widescreen</PresentationFormat>
  <Paragraphs>105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SimHei</vt:lpstr>
      <vt:lpstr>Abadi</vt:lpstr>
      <vt:lpstr>Arial</vt:lpstr>
      <vt:lpstr>Avenir Next LT Pro</vt:lpstr>
      <vt:lpstr>AvenirNext LT Pro Medium</vt:lpstr>
      <vt:lpstr>Posterama</vt:lpstr>
      <vt:lpstr>Raleway</vt:lpstr>
      <vt:lpstr>ExploreVTI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Jones</dc:creator>
  <cp:lastModifiedBy>Michael Jones</cp:lastModifiedBy>
  <cp:revision>18</cp:revision>
  <dcterms:created xsi:type="dcterms:W3CDTF">2026-08-11T10:51:43Z</dcterms:created>
  <dcterms:modified xsi:type="dcterms:W3CDTF">2026-09-11T14:00:08Z</dcterms:modified>
</cp:coreProperties>
</file>